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370" r:id="rId3"/>
    <p:sldId id="360" r:id="rId4"/>
    <p:sldId id="361" r:id="rId5"/>
    <p:sldId id="362" r:id="rId6"/>
    <p:sldId id="363" r:id="rId7"/>
    <p:sldId id="364" r:id="rId8"/>
    <p:sldId id="367" r:id="rId9"/>
    <p:sldId id="368" r:id="rId10"/>
    <p:sldId id="372" r:id="rId11"/>
    <p:sldId id="3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71"/>
    <p:restoredTop sz="94694"/>
  </p:normalViewPr>
  <p:slideViewPr>
    <p:cSldViewPr snapToGrid="0">
      <p:cViewPr varScale="1">
        <p:scale>
          <a:sx n="117" d="100"/>
          <a:sy n="117" d="100"/>
        </p:scale>
        <p:origin x="12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86CFF-E87B-8241-9FE8-C7D83DDF8C46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55EB12-A321-D24B-B8E5-BA1AB0BB0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84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D74D7-5954-2F46-8C85-E2FA194623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69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mention streaming of trajectories on remote servers (instead of downloading and storing entire file locally)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D74D7-5954-2F46-8C85-E2FA194623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60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D74D7-5954-2F46-8C85-E2FA1946235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98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5EB12-A321-D24B-B8E5-BA1AB0BB06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354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612B-DA67-1C4C-A656-C0B2E779FB9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33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A130-E143-F042-9CCB-612FF12C402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27027-A082-B74F-82A2-21EC6818B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7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A130-E143-F042-9CCB-612FF12C402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27027-A082-B74F-82A2-21EC6818B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589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A130-E143-F042-9CCB-612FF12C402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27027-A082-B74F-82A2-21EC6818B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12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A130-E143-F042-9CCB-612FF12C402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27027-A082-B74F-82A2-21EC6818B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271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A130-E143-F042-9CCB-612FF12C402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27027-A082-B74F-82A2-21EC6818B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4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A130-E143-F042-9CCB-612FF12C402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27027-A082-B74F-82A2-21EC6818B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09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A130-E143-F042-9CCB-612FF12C402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27027-A082-B74F-82A2-21EC6818B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19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A130-E143-F042-9CCB-612FF12C402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27027-A082-B74F-82A2-21EC6818B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597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A130-E143-F042-9CCB-612FF12C402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27027-A082-B74F-82A2-21EC6818B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788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A130-E143-F042-9CCB-612FF12C402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27027-A082-B74F-82A2-21EC6818B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27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A130-E143-F042-9CCB-612FF12C402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27027-A082-B74F-82A2-21EC6818B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87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BEA130-E143-F042-9CCB-612FF12C402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127027-A082-B74F-82A2-21EC6818B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535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tif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tiff"/><Relationship Id="rId4" Type="http://schemas.openxmlformats.org/officeDocument/2006/relationships/image" Target="../media/image5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tiff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mdclient.readthedocs.io/en/latest/protocol_v3.html" TargetMode="Externa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mdclient.readthedocs.io/en/latest/protocol_v3.html" TargetMode="Externa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76DDE2F-B85B-29F7-E1B0-7FDB4BFFABEA}"/>
              </a:ext>
            </a:extLst>
          </p:cNvPr>
          <p:cNvSpPr/>
          <p:nvPr/>
        </p:nvSpPr>
        <p:spPr>
          <a:xfrm>
            <a:off x="-11018" y="5879939"/>
            <a:ext cx="9155017" cy="978061"/>
          </a:xfrm>
          <a:prstGeom prst="rect">
            <a:avLst/>
          </a:prstGeom>
          <a:solidFill>
            <a:srgbClr val="7F0000"/>
          </a:solidFill>
          <a:ln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CE3BC-55FC-97B8-63CA-BAEAA1D12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604004"/>
            <a:ext cx="7772400" cy="2387600"/>
          </a:xfrm>
        </p:spPr>
        <p:txBody>
          <a:bodyPr/>
          <a:lstStyle/>
          <a:p>
            <a:r>
              <a:rPr lang="en-US" dirty="0"/>
              <a:t>Streaming Trajectories with </a:t>
            </a:r>
            <a:r>
              <a:rPr lang="en-US" dirty="0" err="1"/>
              <a:t>MDAnalysis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34CF49-6A61-1B36-12D8-E38408DE9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99104" cy="14105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BCAE13-5DC7-5584-3E26-7E79CEFE46F1}"/>
              </a:ext>
            </a:extLst>
          </p:cNvPr>
          <p:cNvSpPr txBox="1"/>
          <p:nvPr/>
        </p:nvSpPr>
        <p:spPr>
          <a:xfrm>
            <a:off x="1442647" y="114865"/>
            <a:ext cx="4722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Office of Advanced Cyberinfrastructure</a:t>
            </a:r>
          </a:p>
          <a:p>
            <a:r>
              <a:rPr lang="en-US" sz="1800" dirty="0"/>
              <a:t>CSSI Elements: Award #2311372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87C804-F1B3-0E7A-8356-9405012C3F83}"/>
              </a:ext>
            </a:extLst>
          </p:cNvPr>
          <p:cNvSpPr txBox="1"/>
          <p:nvPr/>
        </p:nvSpPr>
        <p:spPr>
          <a:xfrm>
            <a:off x="1008596" y="3143110"/>
            <a:ext cx="342189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Contributors</a:t>
            </a:r>
          </a:p>
          <a:p>
            <a:endParaRPr lang="en-US" dirty="0"/>
          </a:p>
          <a:p>
            <a:r>
              <a:rPr lang="en-US" b="1" dirty="0"/>
              <a:t>ASU</a:t>
            </a:r>
          </a:p>
          <a:p>
            <a:r>
              <a:rPr lang="en-US" dirty="0"/>
              <a:t>Lawson Woods</a:t>
            </a:r>
          </a:p>
          <a:p>
            <a:r>
              <a:rPr lang="en-US" dirty="0" err="1"/>
              <a:t>Amruthesh</a:t>
            </a:r>
            <a:r>
              <a:rPr lang="en-US" dirty="0"/>
              <a:t> </a:t>
            </a:r>
            <a:r>
              <a:rPr lang="en-US" dirty="0" err="1"/>
              <a:t>Thirumalaiswamy</a:t>
            </a:r>
            <a:endParaRPr lang="en-US" dirty="0"/>
          </a:p>
          <a:p>
            <a:r>
              <a:rPr lang="en-US" dirty="0" err="1"/>
              <a:t>Heekun</a:t>
            </a:r>
            <a:r>
              <a:rPr lang="en-US" dirty="0"/>
              <a:t> Cho</a:t>
            </a:r>
          </a:p>
          <a:p>
            <a:r>
              <a:rPr lang="en-US" dirty="0"/>
              <a:t>Oliver </a:t>
            </a:r>
            <a:r>
              <a:rPr lang="en-US" dirty="0" err="1"/>
              <a:t>Beckstein</a:t>
            </a:r>
            <a:endParaRPr lang="en-US" dirty="0"/>
          </a:p>
          <a:p>
            <a:r>
              <a:rPr lang="en-US" dirty="0"/>
              <a:t>Matthias Heyden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9ECF56-4C37-5DB3-7D7B-CA6AECB3B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1256" y="114865"/>
            <a:ext cx="1262743" cy="13027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AD9605-66D4-83B0-4CFF-5DB71F053B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25" y="5972538"/>
            <a:ext cx="3969564" cy="8600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A560A59-6263-9159-E442-901086F53AC9}"/>
              </a:ext>
            </a:extLst>
          </p:cNvPr>
          <p:cNvSpPr txBox="1"/>
          <p:nvPr/>
        </p:nvSpPr>
        <p:spPr>
          <a:xfrm>
            <a:off x="4978325" y="3788627"/>
            <a:ext cx="29064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MDAnalysis</a:t>
            </a:r>
            <a:endParaRPr lang="en-US" b="1" dirty="0"/>
          </a:p>
          <a:p>
            <a:r>
              <a:rPr lang="en-US" dirty="0"/>
              <a:t>Hugo McDermott-</a:t>
            </a:r>
            <a:r>
              <a:rPr lang="en-US" dirty="0" err="1"/>
              <a:t>Opeskin</a:t>
            </a:r>
            <a:endParaRPr lang="en-US" dirty="0"/>
          </a:p>
          <a:p>
            <a:r>
              <a:rPr lang="en-US" dirty="0"/>
              <a:t>Jennifer Clark</a:t>
            </a:r>
          </a:p>
          <a:p>
            <a:r>
              <a:rPr lang="en-US" dirty="0" err="1"/>
              <a:t>Yuxuan</a:t>
            </a:r>
            <a:r>
              <a:rPr lang="en-US" dirty="0"/>
              <a:t> Zhuang</a:t>
            </a:r>
          </a:p>
        </p:txBody>
      </p:sp>
    </p:spTree>
    <p:extLst>
      <p:ext uri="{BB962C8B-B14F-4D97-AF65-F5344CB8AC3E}">
        <p14:creationId xmlns:p14="http://schemas.microsoft.com/office/powerpoint/2010/main" val="4263706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49A82-0ECF-8CC5-FE37-EAF7255B3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019" y="1"/>
            <a:ext cx="9142527" cy="1055915"/>
          </a:xfrm>
        </p:spPr>
        <p:txBody>
          <a:bodyPr/>
          <a:lstStyle/>
          <a:p>
            <a:pPr algn="ctr"/>
            <a:r>
              <a:rPr lang="en-US" dirty="0"/>
              <a:t>Why </a:t>
            </a:r>
            <a:r>
              <a:rPr lang="en-US"/>
              <a:t>Streaming of </a:t>
            </a:r>
            <a:r>
              <a:rPr lang="en-US" dirty="0"/>
              <a:t>MD trajectories?</a:t>
            </a:r>
          </a:p>
        </p:txBody>
      </p:sp>
      <p:pic>
        <p:nvPicPr>
          <p:cNvPr id="5" name="Content Placeholder 4" descr="A computer screen with a graph on it&#10;&#10;Description automatically generated">
            <a:extLst>
              <a:ext uri="{FF2B5EF4-FFF2-40B4-BE49-F238E27FC236}">
                <a16:creationId xmlns:a16="http://schemas.microsoft.com/office/drawing/2014/main" id="{2DD79434-C074-D439-1FB9-F88090C8C4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34648" y="1394751"/>
            <a:ext cx="3863049" cy="386304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D69057-6FD3-BEDE-50CC-26297BBEC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9477" y="1485328"/>
            <a:ext cx="1724577" cy="17245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E16266-09CC-F641-F2D2-4CF9724292F4}"/>
              </a:ext>
            </a:extLst>
          </p:cNvPr>
          <p:cNvSpPr txBox="1"/>
          <p:nvPr/>
        </p:nvSpPr>
        <p:spPr>
          <a:xfrm>
            <a:off x="159756" y="1016936"/>
            <a:ext cx="4922713" cy="4816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“On-the-fly” Analysis of Trajectories</a:t>
            </a:r>
          </a:p>
          <a:p>
            <a:pPr marL="571500" indent="-503238">
              <a:spcAft>
                <a:spcPts val="600"/>
              </a:spcAft>
              <a:tabLst>
                <a:tab pos="273050" algn="l"/>
              </a:tabLst>
            </a:pPr>
            <a:r>
              <a:rPr lang="en-US" dirty="0">
                <a:sym typeface="Wingdings" pitchFamily="2" charset="2"/>
              </a:rPr>
              <a:t>	 </a:t>
            </a:r>
            <a:r>
              <a:rPr lang="en-US" b="1" dirty="0">
                <a:sym typeface="Wingdings" pitchFamily="2" charset="2"/>
              </a:rPr>
              <a:t>Analyze fast </a:t>
            </a:r>
            <a:r>
              <a:rPr lang="en-US" dirty="0">
                <a:sym typeface="Wingdings" pitchFamily="2" charset="2"/>
              </a:rPr>
              <a:t>(sub-picosecond) </a:t>
            </a:r>
            <a:r>
              <a:rPr lang="en-US" b="1" dirty="0">
                <a:sym typeface="Wingdings" pitchFamily="2" charset="2"/>
              </a:rPr>
              <a:t>processes </a:t>
            </a:r>
            <a:r>
              <a:rPr lang="en-US" dirty="0">
                <a:sym typeface="Wingdings" pitchFamily="2" charset="2"/>
              </a:rPr>
              <a:t>w/o writing large trajectory output files</a:t>
            </a:r>
          </a:p>
          <a:p>
            <a:pPr marL="857250" lvl="1" indent="-282575"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273050" algn="l"/>
              </a:tabLst>
            </a:pPr>
            <a:r>
              <a:rPr lang="en-US" dirty="0">
                <a:sym typeface="Wingdings" pitchFamily="2" charset="2"/>
              </a:rPr>
              <a:t>solvent dynamics (HBs, diffusion)</a:t>
            </a:r>
          </a:p>
          <a:p>
            <a:pPr marL="857250" lvl="1" indent="-282575"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273050" algn="l"/>
              </a:tabLst>
            </a:pPr>
            <a:r>
              <a:rPr lang="en-US" dirty="0">
                <a:sym typeface="Wingdings" pitchFamily="2" charset="2"/>
              </a:rPr>
              <a:t>molecular vibrations</a:t>
            </a:r>
          </a:p>
          <a:p>
            <a:pPr marL="857250" lvl="1" indent="-282575"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273050" algn="l"/>
              </a:tabLst>
            </a:pPr>
            <a:r>
              <a:rPr lang="en-US" dirty="0">
                <a:sym typeface="Wingdings" pitchFamily="2" charset="2"/>
              </a:rPr>
              <a:t>friction (force time correlations)</a:t>
            </a:r>
          </a:p>
          <a:p>
            <a:pPr marL="571500" indent="-503238">
              <a:spcAft>
                <a:spcPts val="600"/>
              </a:spcAft>
              <a:tabLst>
                <a:tab pos="273050" algn="l"/>
              </a:tabLst>
            </a:pPr>
            <a:r>
              <a:rPr lang="en-US" dirty="0">
                <a:sym typeface="Wingdings" pitchFamily="2" charset="2"/>
              </a:rPr>
              <a:t>	 </a:t>
            </a:r>
            <a:r>
              <a:rPr lang="en-US" b="1" dirty="0">
                <a:sym typeface="Wingdings" pitchFamily="2" charset="2"/>
              </a:rPr>
              <a:t>Event Detection</a:t>
            </a:r>
          </a:p>
          <a:p>
            <a:pPr marL="857250" indent="-282575"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273050" algn="l"/>
              </a:tabLst>
            </a:pPr>
            <a:r>
              <a:rPr lang="en-US" dirty="0">
                <a:sym typeface="Wingdings" pitchFamily="2" charset="2"/>
              </a:rPr>
              <a:t>monitor arbitrary collective variables</a:t>
            </a:r>
          </a:p>
          <a:p>
            <a:pPr marL="857250" lvl="1" indent="-282575"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273050" algn="l"/>
              </a:tabLst>
            </a:pPr>
            <a:r>
              <a:rPr lang="en-US" dirty="0">
                <a:sym typeface="Wingdings" pitchFamily="2" charset="2"/>
              </a:rPr>
              <a:t>weighted ensemble methods</a:t>
            </a:r>
          </a:p>
          <a:p>
            <a:pPr marL="857250" lvl="1" indent="-282575"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273050" algn="l"/>
              </a:tabLst>
            </a:pPr>
            <a:r>
              <a:rPr lang="en-US" dirty="0">
                <a:sym typeface="Wingdings" pitchFamily="2" charset="2"/>
              </a:rPr>
              <a:t>water/ion flux through membrane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Control Output</a:t>
            </a:r>
          </a:p>
          <a:p>
            <a:pPr marL="571500" indent="-503238">
              <a:spcAft>
                <a:spcPts val="600"/>
              </a:spcAft>
              <a:tabLst>
                <a:tab pos="273050" algn="l"/>
              </a:tabLst>
            </a:pPr>
            <a:r>
              <a:rPr lang="en-US" dirty="0">
                <a:sym typeface="Wingdings" pitchFamily="2" charset="2"/>
              </a:rPr>
              <a:t>	 save disk space &amp; post-processing </a:t>
            </a:r>
          </a:p>
          <a:p>
            <a:pPr marL="857250" lvl="1" indent="-282575"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273050" algn="l"/>
              </a:tabLst>
            </a:pPr>
            <a:r>
              <a:rPr lang="en-US" dirty="0">
                <a:sym typeface="Wingdings" pitchFamily="2" charset="2"/>
              </a:rPr>
              <a:t>store only data you need (e.g., unwrapped protein coordinates)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D8F9A5-0A74-B836-F3C3-2203B21FCA75}"/>
              </a:ext>
            </a:extLst>
          </p:cNvPr>
          <p:cNvSpPr/>
          <p:nvPr/>
        </p:nvSpPr>
        <p:spPr>
          <a:xfrm>
            <a:off x="-11018" y="5879939"/>
            <a:ext cx="9155017" cy="978061"/>
          </a:xfrm>
          <a:prstGeom prst="rect">
            <a:avLst/>
          </a:prstGeom>
          <a:solidFill>
            <a:srgbClr val="7F0000"/>
          </a:solidFill>
          <a:ln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1D0CD6-12BB-B59D-D638-E4027B4286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25" y="5972538"/>
            <a:ext cx="3969564" cy="86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540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49A82-0ECF-8CC5-FE37-EAF7255B3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019" y="1"/>
            <a:ext cx="9142527" cy="1055915"/>
          </a:xfrm>
        </p:spPr>
        <p:txBody>
          <a:bodyPr/>
          <a:lstStyle/>
          <a:p>
            <a:pPr algn="ctr"/>
            <a:r>
              <a:rPr lang="en-US" dirty="0"/>
              <a:t>Nomenclature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E16266-09CC-F641-F2D2-4CF9724292F4}"/>
              </a:ext>
            </a:extLst>
          </p:cNvPr>
          <p:cNvSpPr txBox="1"/>
          <p:nvPr/>
        </p:nvSpPr>
        <p:spPr>
          <a:xfrm>
            <a:off x="311443" y="910526"/>
            <a:ext cx="5403414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TCP/IP socket interface</a:t>
            </a:r>
          </a:p>
          <a:p>
            <a:pPr marL="571500" indent="-503238">
              <a:spcAft>
                <a:spcPts val="600"/>
              </a:spcAft>
              <a:tabLst>
                <a:tab pos="273050" algn="l"/>
              </a:tabLst>
            </a:pPr>
            <a:r>
              <a:rPr lang="en-US" dirty="0">
                <a:sym typeface="Wingdings" pitchFamily="2" charset="2"/>
              </a:rPr>
              <a:t>	 </a:t>
            </a:r>
            <a:r>
              <a:rPr lang="en-US" b="1" dirty="0">
                <a:sym typeface="Wingdings" pitchFamily="2" charset="2"/>
              </a:rPr>
              <a:t>Server</a:t>
            </a:r>
            <a:endParaRPr lang="en-US" dirty="0">
              <a:sym typeface="Wingdings" pitchFamily="2" charset="2"/>
            </a:endParaRPr>
          </a:p>
          <a:p>
            <a:pPr marL="800100" lvl="1" indent="-220663"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273050" algn="l"/>
              </a:tabLst>
            </a:pPr>
            <a:r>
              <a:rPr lang="en-US" dirty="0">
                <a:sym typeface="Wingdings" pitchFamily="2" charset="2"/>
              </a:rPr>
              <a:t>MD Simulation software (“serves” trajectory data)  producer</a:t>
            </a:r>
          </a:p>
          <a:p>
            <a:pPr marL="800100" lvl="1" indent="-220663"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273050" algn="l"/>
              </a:tabLst>
            </a:pPr>
            <a:r>
              <a:rPr lang="en-US" dirty="0">
                <a:sym typeface="Wingdings" pitchFamily="2" charset="2"/>
              </a:rPr>
              <a:t>you’ll need its address: localhost or IP-address</a:t>
            </a:r>
          </a:p>
          <a:p>
            <a:pPr marL="571500" indent="-503238">
              <a:spcAft>
                <a:spcPts val="600"/>
              </a:spcAft>
              <a:tabLst>
                <a:tab pos="273050" algn="l"/>
              </a:tabLst>
            </a:pPr>
            <a:r>
              <a:rPr lang="en-US" dirty="0">
                <a:sym typeface="Wingdings" pitchFamily="2" charset="2"/>
              </a:rPr>
              <a:t>	 </a:t>
            </a:r>
            <a:r>
              <a:rPr lang="en-US" b="1" dirty="0">
                <a:sym typeface="Wingdings" pitchFamily="2" charset="2"/>
              </a:rPr>
              <a:t>Client </a:t>
            </a:r>
            <a:r>
              <a:rPr lang="en-US" dirty="0">
                <a:sym typeface="Wingdings" pitchFamily="2" charset="2"/>
              </a:rPr>
              <a:t>(here: your MDAnalysis script/notebook)</a:t>
            </a:r>
          </a:p>
          <a:p>
            <a:pPr marL="800100" lvl="1" indent="-220663"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569913" algn="l"/>
              </a:tabLst>
            </a:pPr>
            <a:r>
              <a:rPr lang="en-US" dirty="0">
                <a:sym typeface="Wingdings" pitchFamily="2" charset="2"/>
              </a:rPr>
              <a:t>receives data from server  consumer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D8F9A5-0A74-B836-F3C3-2203B21FCA75}"/>
              </a:ext>
            </a:extLst>
          </p:cNvPr>
          <p:cNvSpPr/>
          <p:nvPr/>
        </p:nvSpPr>
        <p:spPr>
          <a:xfrm>
            <a:off x="-11018" y="5879939"/>
            <a:ext cx="9155017" cy="978061"/>
          </a:xfrm>
          <a:prstGeom prst="rect">
            <a:avLst/>
          </a:prstGeom>
          <a:solidFill>
            <a:srgbClr val="7F0000"/>
          </a:solidFill>
          <a:ln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1D0CD6-12BB-B59D-D638-E4027B428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25" y="5972538"/>
            <a:ext cx="3969564" cy="860072"/>
          </a:xfrm>
          <a:prstGeom prst="rect">
            <a:avLst/>
          </a:prstGeom>
        </p:spPr>
      </p:pic>
      <p:pic>
        <p:nvPicPr>
          <p:cNvPr id="10" name="Content Placeholder 4" descr="A close-up of a computer server&#10;&#10;Description automatically generated">
            <a:extLst>
              <a:ext uri="{FF2B5EF4-FFF2-40B4-BE49-F238E27FC236}">
                <a16:creationId xmlns:a16="http://schemas.microsoft.com/office/drawing/2014/main" id="{02C3E3A7-FC21-8A48-BBA3-C0C661AFDA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874949" y="993309"/>
            <a:ext cx="2768836" cy="2768836"/>
          </a:xfr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723BBF6-A803-1A43-B5EE-0206A2EA717D}"/>
              </a:ext>
            </a:extLst>
          </p:cNvPr>
          <p:cNvSpPr/>
          <p:nvPr/>
        </p:nvSpPr>
        <p:spPr>
          <a:xfrm>
            <a:off x="311443" y="3651172"/>
            <a:ext cx="8157643" cy="213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03238">
              <a:spcAft>
                <a:spcPts val="600"/>
              </a:spcAft>
              <a:tabLst>
                <a:tab pos="273050" algn="l"/>
              </a:tabLst>
            </a:pPr>
            <a:r>
              <a:rPr lang="en-US" b="1" dirty="0">
                <a:sym typeface="Wingdings" pitchFamily="2" charset="2"/>
              </a:rPr>
              <a:t>	 TCP/IP port number</a:t>
            </a:r>
            <a:endParaRPr lang="en-US" dirty="0">
              <a:sym typeface="Wingdings" pitchFamily="2" charset="2"/>
            </a:endParaRPr>
          </a:p>
          <a:p>
            <a:pPr marL="857250" indent="-282575">
              <a:buFont typeface="Courier New" panose="02070309020205020404" pitchFamily="49" charset="0"/>
              <a:buChar char="o"/>
              <a:tabLst>
                <a:tab pos="273050" algn="l"/>
              </a:tabLst>
            </a:pPr>
            <a:r>
              <a:rPr lang="en-US" dirty="0">
                <a:sym typeface="Wingdings" pitchFamily="2" charset="2"/>
              </a:rPr>
              <a:t>communication channel between </a:t>
            </a:r>
            <a:r>
              <a:rPr lang="en-US" b="1" dirty="0">
                <a:sym typeface="Wingdings" pitchFamily="2" charset="2"/>
              </a:rPr>
              <a:t>server</a:t>
            </a:r>
            <a:r>
              <a:rPr lang="en-US" dirty="0">
                <a:sym typeface="Wingdings" pitchFamily="2" charset="2"/>
              </a:rPr>
              <a:t> and </a:t>
            </a:r>
            <a:r>
              <a:rPr lang="en-US" b="1" dirty="0">
                <a:sym typeface="Wingdings" pitchFamily="2" charset="2"/>
              </a:rPr>
              <a:t>client </a:t>
            </a:r>
          </a:p>
          <a:p>
            <a:pPr marL="574675">
              <a:spcAft>
                <a:spcPts val="600"/>
              </a:spcAft>
              <a:tabLst>
                <a:tab pos="273050" algn="l"/>
                <a:tab pos="846138" algn="l"/>
              </a:tabLst>
            </a:pPr>
            <a:r>
              <a:rPr lang="en-US" b="1" dirty="0">
                <a:sym typeface="Wingdings" pitchFamily="2" charset="2"/>
              </a:rPr>
              <a:t>	</a:t>
            </a:r>
            <a:r>
              <a:rPr lang="en-US" dirty="0">
                <a:sym typeface="Wingdings" pitchFamily="2" charset="2"/>
              </a:rPr>
              <a:t>( set to same value for both)</a:t>
            </a:r>
          </a:p>
          <a:p>
            <a:pPr marL="857250" lvl="1" indent="-282575"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273050" algn="l"/>
              </a:tabLst>
            </a:pP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0-1023 = well-known ports (stay away, may require superuser privileges)</a:t>
            </a:r>
          </a:p>
          <a:p>
            <a:pPr marL="857250" lvl="1" indent="-282575"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273050" algn="l"/>
              </a:tabLst>
            </a:pPr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1024-49151 = registered ports (free to use, possible conflicts)</a:t>
            </a:r>
          </a:p>
          <a:p>
            <a:pPr marL="857250" lvl="1" indent="-282575"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273050" algn="l"/>
              </a:tabLst>
            </a:pPr>
            <a:r>
              <a:rPr lang="en-US" dirty="0">
                <a:solidFill>
                  <a:srgbClr val="00B050"/>
                </a:solidFill>
                <a:sym typeface="Wingdings" pitchFamily="2" charset="2"/>
              </a:rPr>
              <a:t>49152-65535 = dynamic, private or ephemeral ports (free to use)</a:t>
            </a:r>
          </a:p>
        </p:txBody>
      </p:sp>
    </p:spTree>
    <p:extLst>
      <p:ext uri="{BB962C8B-B14F-4D97-AF65-F5344CB8AC3E}">
        <p14:creationId xmlns:p14="http://schemas.microsoft.com/office/powerpoint/2010/main" val="904739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B639FB6-6198-EE49-A036-8CC2B32DE705}"/>
              </a:ext>
            </a:extLst>
          </p:cNvPr>
          <p:cNvSpPr/>
          <p:nvPr/>
        </p:nvSpPr>
        <p:spPr>
          <a:xfrm>
            <a:off x="-11018" y="5879939"/>
            <a:ext cx="9155017" cy="978061"/>
          </a:xfrm>
          <a:prstGeom prst="rect">
            <a:avLst/>
          </a:prstGeom>
          <a:solidFill>
            <a:srgbClr val="7F0000"/>
          </a:solidFill>
          <a:ln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F06DF3-010B-4A4F-AD02-4BBC8D554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25" y="5972538"/>
            <a:ext cx="3969564" cy="8600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7A2D3E-C42D-1BDC-1691-9669AE90F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413" y="2076217"/>
            <a:ext cx="2904302" cy="10970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3FFE9E-CFF8-F5E3-C5E3-AD51FD00C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432" y="137333"/>
            <a:ext cx="8781568" cy="1325563"/>
          </a:xfrm>
        </p:spPr>
        <p:txBody>
          <a:bodyPr>
            <a:normAutofit/>
          </a:bodyPr>
          <a:lstStyle/>
          <a:p>
            <a:r>
              <a:rPr lang="en-US" dirty="0"/>
              <a:t>Standing on the Shoulders of Giants:</a:t>
            </a:r>
            <a:br>
              <a:rPr lang="en-US" dirty="0"/>
            </a:br>
            <a:r>
              <a:rPr lang="en-US" dirty="0"/>
              <a:t>Interactive Molecular Dynamics (IMD)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353CCF-3079-281B-7910-78FCFAF71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9902" y="3426842"/>
            <a:ext cx="5234456" cy="21854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0BDCE2-7506-3B36-13FD-C56D338375D4}"/>
              </a:ext>
            </a:extLst>
          </p:cNvPr>
          <p:cNvSpPr txBox="1"/>
          <p:nvPr/>
        </p:nvSpPr>
        <p:spPr>
          <a:xfrm>
            <a:off x="362432" y="4688992"/>
            <a:ext cx="3927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Application:</a:t>
            </a:r>
          </a:p>
          <a:p>
            <a:r>
              <a:rPr lang="en-US" dirty="0"/>
              <a:t>A. </a:t>
            </a:r>
            <a:r>
              <a:rPr lang="en-US" dirty="0" err="1"/>
              <a:t>Lanrezac</a:t>
            </a:r>
            <a:r>
              <a:rPr lang="en-US" dirty="0"/>
              <a:t>, N. </a:t>
            </a:r>
            <a:r>
              <a:rPr lang="en-US" dirty="0" err="1"/>
              <a:t>Férey</a:t>
            </a:r>
            <a:r>
              <a:rPr lang="en-US" dirty="0"/>
              <a:t>, M. </a:t>
            </a:r>
            <a:r>
              <a:rPr lang="en-US" dirty="0" err="1"/>
              <a:t>Baaden</a:t>
            </a:r>
            <a:r>
              <a:rPr lang="en-US" dirty="0"/>
              <a:t>, WIREs </a:t>
            </a:r>
            <a:r>
              <a:rPr lang="en-US" dirty="0" err="1"/>
              <a:t>Comput</a:t>
            </a:r>
            <a:r>
              <a:rPr lang="en-US" dirty="0"/>
              <a:t>. Mol Sci. 12, e1594 (2022).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5BB57-AFE9-73B7-54C2-CE0CC63700F3}"/>
              </a:ext>
            </a:extLst>
          </p:cNvPr>
          <p:cNvSpPr txBox="1"/>
          <p:nvPr/>
        </p:nvSpPr>
        <p:spPr>
          <a:xfrm>
            <a:off x="362432" y="1555495"/>
            <a:ext cx="64297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Implementation (</a:t>
            </a:r>
            <a:r>
              <a:rPr lang="en-US" b="1" dirty="0"/>
              <a:t>IMD version 2</a:t>
            </a:r>
            <a:r>
              <a:rPr lang="en-US" dirty="0"/>
              <a:t>):</a:t>
            </a:r>
          </a:p>
          <a:p>
            <a:pPr>
              <a:spcAft>
                <a:spcPts val="600"/>
              </a:spcAft>
            </a:pPr>
            <a:r>
              <a:rPr lang="en-US" b="1" dirty="0"/>
              <a:t>John E. Stone</a:t>
            </a:r>
            <a:r>
              <a:rPr lang="en-US" dirty="0"/>
              <a:t>, Justin </a:t>
            </a:r>
            <a:r>
              <a:rPr lang="en-US" dirty="0" err="1"/>
              <a:t>Gullingsrud</a:t>
            </a:r>
            <a:r>
              <a:rPr lang="en-US" dirty="0"/>
              <a:t>, Klaus </a:t>
            </a:r>
            <a:r>
              <a:rPr lang="en-US" dirty="0" err="1"/>
              <a:t>Schulten</a:t>
            </a:r>
            <a:r>
              <a:rPr lang="en-US" dirty="0"/>
              <a:t>, Paul Grayson </a:t>
            </a:r>
            <a:r>
              <a:rPr lang="en-US" i="1" dirty="0"/>
              <a:t>2001 ACM Symposium on Interactive 3D Graphics</a:t>
            </a:r>
          </a:p>
          <a:p>
            <a:pPr>
              <a:spcAft>
                <a:spcPts val="600"/>
              </a:spcAft>
            </a:pPr>
            <a:r>
              <a:rPr lang="en-US" dirty="0"/>
              <a:t>Original: Interface NAMD &amp; VMD</a:t>
            </a:r>
          </a:p>
          <a:p>
            <a:pPr>
              <a:spcAft>
                <a:spcPts val="600"/>
              </a:spcAft>
            </a:pPr>
            <a:r>
              <a:rPr lang="en-US" dirty="0"/>
              <a:t>supported by GROMACS, LAMMPS, </a:t>
            </a:r>
            <a:r>
              <a:rPr lang="en-US" i="1" dirty="0"/>
              <a:t>etc.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F16C2F-A7E8-794C-AC5E-43111907FDAE}"/>
              </a:ext>
            </a:extLst>
          </p:cNvPr>
          <p:cNvSpPr txBox="1"/>
          <p:nvPr/>
        </p:nvSpPr>
        <p:spPr>
          <a:xfrm>
            <a:off x="407739" y="3452542"/>
            <a:ext cx="3384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Main purpose:</a:t>
            </a:r>
          </a:p>
          <a:p>
            <a:r>
              <a:rPr lang="en-US"/>
              <a:t>Visualization &amp; Interaction</a:t>
            </a:r>
          </a:p>
        </p:txBody>
      </p:sp>
    </p:spTree>
    <p:extLst>
      <p:ext uri="{BB962C8B-B14F-4D97-AF65-F5344CB8AC3E}">
        <p14:creationId xmlns:p14="http://schemas.microsoft.com/office/powerpoint/2010/main" val="134642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8077A-2B7D-820A-52E2-948E8799A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pPr algn="ctr"/>
            <a:r>
              <a:rPr lang="en-US" dirty="0"/>
              <a:t>IMD (version 2)</a:t>
            </a:r>
          </a:p>
        </p:txBody>
      </p:sp>
      <p:pic>
        <p:nvPicPr>
          <p:cNvPr id="1034" name="Picture 10" descr="Flowchart of the GROMACS IMD implementation and the communication with a VMD client.">
            <a:extLst>
              <a:ext uri="{FF2B5EF4-FFF2-40B4-BE49-F238E27FC236}">
                <a16:creationId xmlns:a16="http://schemas.microsoft.com/office/drawing/2014/main" id="{247FDFD8-2F2E-3326-B9C9-46FE22315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334" y="2229216"/>
            <a:ext cx="7720003" cy="3209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0EB8F2-04CE-8BD9-3E2F-A52A2470D788}"/>
              </a:ext>
            </a:extLst>
          </p:cNvPr>
          <p:cNvSpPr txBox="1"/>
          <p:nvPr/>
        </p:nvSpPr>
        <p:spPr>
          <a:xfrm>
            <a:off x="-11018" y="5464573"/>
            <a:ext cx="9155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(c) M. </a:t>
            </a:r>
            <a:r>
              <a:rPr lang="en-US" sz="1400" dirty="0" err="1"/>
              <a:t>Hoefling</a:t>
            </a:r>
            <a:r>
              <a:rPr lang="en-US" sz="1400" dirty="0"/>
              <a:t> &amp; H. </a:t>
            </a:r>
            <a:r>
              <a:rPr lang="en-US" sz="1400" dirty="0" err="1"/>
              <a:t>Grubmueller</a:t>
            </a:r>
            <a:r>
              <a:rPr lang="en-US" sz="1400" dirty="0"/>
              <a:t>, Max Planck Institute for Multidisciplinary Sciences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F655FB-1648-C76E-448C-C94D23F4E219}"/>
              </a:ext>
            </a:extLst>
          </p:cNvPr>
          <p:cNvSpPr txBox="1"/>
          <p:nvPr/>
        </p:nvSpPr>
        <p:spPr>
          <a:xfrm>
            <a:off x="808198" y="821454"/>
            <a:ext cx="765213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Functionality: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communicate coordinates [optional: and energies] from MD simulation (server) to VMD (client) for visualization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communicate interactive forces from VMD back to MD engine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0217BD-305B-9842-82AB-52A3A3E8A6D2}"/>
              </a:ext>
            </a:extLst>
          </p:cNvPr>
          <p:cNvSpPr/>
          <p:nvPr/>
        </p:nvSpPr>
        <p:spPr>
          <a:xfrm>
            <a:off x="-11018" y="5879939"/>
            <a:ext cx="9155017" cy="978061"/>
          </a:xfrm>
          <a:prstGeom prst="rect">
            <a:avLst/>
          </a:prstGeom>
          <a:solidFill>
            <a:srgbClr val="7F0000"/>
          </a:solidFill>
          <a:ln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837E1C-059B-D143-810B-D71FAC30E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25" y="5972538"/>
            <a:ext cx="3969564" cy="860072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9454B74-38DC-424A-8034-D39E1BCFB25D}"/>
              </a:ext>
            </a:extLst>
          </p:cNvPr>
          <p:cNvSpPr/>
          <p:nvPr/>
        </p:nvSpPr>
        <p:spPr>
          <a:xfrm>
            <a:off x="1939895" y="3896882"/>
            <a:ext cx="1538243" cy="5127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5EA05D0-2869-4C4A-B8CE-51824353F009}"/>
              </a:ext>
            </a:extLst>
          </p:cNvPr>
          <p:cNvSpPr/>
          <p:nvPr/>
        </p:nvSpPr>
        <p:spPr>
          <a:xfrm>
            <a:off x="6553199" y="4527847"/>
            <a:ext cx="1649339" cy="27488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0FBCD6A-F361-C64E-8FDF-17BB18481693}"/>
              </a:ext>
            </a:extLst>
          </p:cNvPr>
          <p:cNvSpPr/>
          <p:nvPr/>
        </p:nvSpPr>
        <p:spPr>
          <a:xfrm>
            <a:off x="1939895" y="4527846"/>
            <a:ext cx="1538243" cy="27488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6D71FB2-4ED5-BF48-8E49-416321E492E7}"/>
              </a:ext>
            </a:extLst>
          </p:cNvPr>
          <p:cNvSpPr/>
          <p:nvPr/>
        </p:nvSpPr>
        <p:spPr>
          <a:xfrm>
            <a:off x="6553199" y="3896882"/>
            <a:ext cx="1649339" cy="5127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3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9" grpId="0" animBg="1"/>
      <p:bldP spid="9" grpId="1" animBg="1"/>
      <p:bldP spid="12" grpId="0" animBg="1"/>
      <p:bldP spid="13" grpId="0" animBg="1"/>
      <p:bldP spid="1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8077A-2B7D-820A-52E2-948E8799A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pPr algn="ctr"/>
            <a:r>
              <a:rPr lang="en-US" dirty="0"/>
              <a:t>Why IMD version 3?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F655FB-1648-C76E-448C-C94D23F4E219}"/>
              </a:ext>
            </a:extLst>
          </p:cNvPr>
          <p:cNvSpPr txBox="1"/>
          <p:nvPr/>
        </p:nvSpPr>
        <p:spPr>
          <a:xfrm>
            <a:off x="740420" y="2163052"/>
            <a:ext cx="7968151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IMD version 3</a:t>
            </a:r>
          </a:p>
          <a:p>
            <a:pPr>
              <a:spcAft>
                <a:spcPts val="600"/>
              </a:spcAft>
            </a:pPr>
            <a:r>
              <a:rPr lang="en-US" dirty="0"/>
              <a:t>For analysis of MD trajectories, we </a:t>
            </a:r>
            <a:r>
              <a:rPr lang="en-US" b="1" dirty="0">
                <a:solidFill>
                  <a:srgbClr val="FF0000"/>
                </a:solidFill>
              </a:rPr>
              <a:t>need </a:t>
            </a:r>
            <a:r>
              <a:rPr lang="en-US" dirty="0"/>
              <a:t>(at least as an </a:t>
            </a:r>
            <a:r>
              <a:rPr lang="en-US" i="1" u="sng" dirty="0"/>
              <a:t>option</a:t>
            </a:r>
            <a:r>
              <a:rPr lang="en-US" dirty="0"/>
              <a:t>):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simulation box dimensions (if not constant)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ym typeface="Wingdings" pitchFamily="2" charset="2"/>
              </a:rPr>
              <a:t> otherwise cannot compute distances in periodic space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atomic velocities (e.g., for time correlation functions, molecular vibrations)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atomic forces (e.g., to compute friction coefficients)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 Nice to have: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control wrapping/unwrapping of molecules in periodic system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simulation time (avoids reconstructing from frame number)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0217BD-305B-9842-82AB-52A3A3E8A6D2}"/>
              </a:ext>
            </a:extLst>
          </p:cNvPr>
          <p:cNvSpPr/>
          <p:nvPr/>
        </p:nvSpPr>
        <p:spPr>
          <a:xfrm>
            <a:off x="-11018" y="5879939"/>
            <a:ext cx="9155017" cy="978061"/>
          </a:xfrm>
          <a:prstGeom prst="rect">
            <a:avLst/>
          </a:prstGeom>
          <a:solidFill>
            <a:srgbClr val="7F0000"/>
          </a:solidFill>
          <a:ln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837E1C-059B-D143-810B-D71FAC30E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25" y="5972538"/>
            <a:ext cx="3969564" cy="860072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06E4BA6-E4C4-5F49-8A42-9DDA2568D5B8}"/>
              </a:ext>
            </a:extLst>
          </p:cNvPr>
          <p:cNvSpPr/>
          <p:nvPr/>
        </p:nvSpPr>
        <p:spPr>
          <a:xfrm>
            <a:off x="533400" y="949550"/>
            <a:ext cx="8077200" cy="110144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B3D8B95-DA57-314A-9EB2-806AA785F32B}"/>
              </a:ext>
            </a:extLst>
          </p:cNvPr>
          <p:cNvSpPr/>
          <p:nvPr/>
        </p:nvSpPr>
        <p:spPr>
          <a:xfrm>
            <a:off x="533400" y="2163554"/>
            <a:ext cx="8077199" cy="3566940"/>
          </a:xfrm>
          <a:prstGeom prst="roundRect">
            <a:avLst>
              <a:gd name="adj" fmla="val 51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C235E4-7E17-0849-9BBF-471EFA361150}"/>
              </a:ext>
            </a:extLst>
          </p:cNvPr>
          <p:cNvSpPr/>
          <p:nvPr/>
        </p:nvSpPr>
        <p:spPr>
          <a:xfrm>
            <a:off x="740418" y="949550"/>
            <a:ext cx="8077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IMD version 2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only atom coordinates communicated to client </a:t>
            </a:r>
            <a:r>
              <a:rPr lang="en-US" dirty="0">
                <a:sym typeface="Wingdings" pitchFamily="2" charset="2"/>
              </a:rPr>
              <a:t> sufficient for visualization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can set transmit frequency (e.g., communicate every 10 MD steps)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72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8077A-2B7D-820A-52E2-948E8799A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pPr algn="ctr"/>
            <a:r>
              <a:rPr lang="en-US" dirty="0"/>
              <a:t>Limits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5F655FB-1648-C76E-448C-C94D23F4E219}"/>
                  </a:ext>
                </a:extLst>
              </p:cNvPr>
              <p:cNvSpPr txBox="1"/>
              <p:nvPr/>
            </p:nvSpPr>
            <p:spPr>
              <a:xfrm>
                <a:off x="663508" y="821537"/>
                <a:ext cx="7138802" cy="3343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b="1" dirty="0"/>
                  <a:t>Data Transfer Rate via TCP/IP </a:t>
                </a:r>
                <a:r>
                  <a:rPr lang="en-US" dirty="0"/>
                  <a:t>(2018 iMac)</a:t>
                </a: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ea typeface="Cambria Math" panose="02040503050406030204" pitchFamily="18" charset="0"/>
                  </a:rPr>
                  <a:t>on localhost:</a:t>
                </a:r>
              </a:p>
              <a:p>
                <a:pPr>
                  <a:spcAft>
                    <a:spcPts val="600"/>
                  </a:spcAft>
                  <a:tabLst>
                    <a:tab pos="280988" algn="l"/>
                  </a:tabLst>
                </a:pPr>
                <a:r>
                  <a:rPr lang="en-US" b="0" dirty="0">
                    <a:ea typeface="Cambria Math" panose="02040503050406030204" pitchFamily="18" charset="0"/>
                    <a:sym typeface="Wingdings" pitchFamily="2" charset="2"/>
                  </a:rPr>
                  <a:t>	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&gt;</m:t>
                    </m:r>
                  </m:oMath>
                </a14:m>
                <a:r>
                  <a:rPr lang="en-US" dirty="0"/>
                  <a:t>45 MBytes/s = 45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1,024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1,024 bytes/s = 47,185,920 bytes/s</a:t>
                </a:r>
              </a:p>
              <a:p>
                <a:pPr>
                  <a:spcAft>
                    <a:spcPts val="600"/>
                  </a:spcAft>
                  <a:tabLst>
                    <a:tab pos="280988" algn="l"/>
                  </a:tabLst>
                </a:pPr>
                <a:r>
                  <a:rPr lang="en-US" dirty="0">
                    <a:sym typeface="Wingdings" pitchFamily="2" charset="2"/>
                  </a:rPr>
                  <a:t>	 bytes/atom = </a:t>
                </a:r>
                <a:r>
                  <a:rPr lang="en-US" b="1" dirty="0">
                    <a:sym typeface="Wingdings" pitchFamily="2" charset="2"/>
                  </a:rPr>
                  <a:t>12 (</a:t>
                </a:r>
                <a:r>
                  <a:rPr lang="en-US" b="1" dirty="0" err="1">
                    <a:sym typeface="Wingdings" pitchFamily="2" charset="2"/>
                  </a:rPr>
                  <a:t>crds</a:t>
                </a:r>
                <a:r>
                  <a:rPr lang="en-US" b="1" dirty="0">
                    <a:sym typeface="Wingdings" pitchFamily="2" charset="2"/>
                  </a:rPr>
                  <a:t> only) </a:t>
                </a:r>
                <a:r>
                  <a:rPr lang="en-US" dirty="0">
                    <a:sym typeface="Wingdings" pitchFamily="2" charset="2"/>
                  </a:rPr>
                  <a:t>to </a:t>
                </a:r>
                <a:r>
                  <a:rPr lang="en-US" b="1" dirty="0">
                    <a:solidFill>
                      <a:srgbClr val="FF0000"/>
                    </a:solidFill>
                    <a:sym typeface="Wingdings" pitchFamily="2" charset="2"/>
                  </a:rPr>
                  <a:t>36 (</a:t>
                </a:r>
                <a:r>
                  <a:rPr lang="en-US" b="1" dirty="0" err="1">
                    <a:solidFill>
                      <a:srgbClr val="FF0000"/>
                    </a:solidFill>
                    <a:sym typeface="Wingdings" pitchFamily="2" charset="2"/>
                  </a:rPr>
                  <a:t>crds,velo,force</a:t>
                </a:r>
                <a:r>
                  <a:rPr lang="en-US" b="1" dirty="0">
                    <a:solidFill>
                      <a:srgbClr val="FF0000"/>
                    </a:solidFill>
                    <a:sym typeface="Wingdings" pitchFamily="2" charset="2"/>
                  </a:rPr>
                  <a:t>)</a:t>
                </a:r>
                <a:endParaRPr lang="en-US" b="1" dirty="0">
                  <a:solidFill>
                    <a:srgbClr val="FF0000"/>
                  </a:solidFill>
                </a:endParaRPr>
              </a:p>
              <a:p>
                <a:pPr>
                  <a:spcAft>
                    <a:spcPts val="600"/>
                  </a:spcAft>
                </a:pPr>
                <a:endParaRPr lang="en-US" sz="600" dirty="0"/>
              </a:p>
              <a:p>
                <a:pPr>
                  <a:spcAft>
                    <a:spcPts val="600"/>
                  </a:spcAft>
                </a:pPr>
                <a:r>
                  <a:rPr lang="en-US" dirty="0"/>
                  <a:t>If we transmit </a:t>
                </a:r>
                <a:r>
                  <a:rPr lang="en-US" b="1" dirty="0"/>
                  <a:t>only coordinates</a:t>
                </a:r>
                <a:r>
                  <a:rPr lang="en-US" dirty="0"/>
                  <a:t>: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dirty="0">
                            <a:latin typeface="Cambria Math" panose="02040503050406030204" pitchFamily="18" charset="0"/>
                          </a:rPr>
                          <m:t>4,7185,920 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bytes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𝟏𝟐</m:t>
                        </m:r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𝐛𝐲𝐭𝐞𝐬</m:t>
                        </m:r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𝐚𝐭𝐨𝐦</m:t>
                        </m:r>
                      </m:den>
                    </m:f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>
                        <a:latin typeface="Cambria Math" panose="02040503050406030204" pitchFamily="18" charset="0"/>
                      </a:rPr>
                      <m:t>3.93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atoms</m:t>
                    </m:r>
                    <m: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endParaRPr lang="en-US" dirty="0"/>
              </a:p>
              <a:p>
                <a:pPr>
                  <a:spcAft>
                    <a:spcPts val="600"/>
                  </a:spcAft>
                </a:pPr>
                <a:r>
                  <a:rPr lang="en-US" dirty="0"/>
                  <a:t>If we transmit </a:t>
                </a:r>
                <a:r>
                  <a:rPr lang="en-US" b="1" dirty="0">
                    <a:solidFill>
                      <a:srgbClr val="FF0000"/>
                    </a:solidFill>
                  </a:rPr>
                  <a:t>full atom info</a:t>
                </a:r>
                <a:r>
                  <a:rPr lang="en-US" dirty="0"/>
                  <a:t>: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dirty="0">
                            <a:latin typeface="Cambria Math" panose="02040503050406030204" pitchFamily="18" charset="0"/>
                          </a:rPr>
                          <m:t>4,7185,920 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bytes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𝟑𝟔</m:t>
                        </m:r>
                        <m:r>
                          <a:rPr lang="en-US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𝐛𝐲𝐭𝐞𝐬</m:t>
                        </m:r>
                        <m:r>
                          <a:rPr lang="en-US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𝐚𝐭𝐨𝐦</m:t>
                        </m:r>
                      </m:den>
                    </m:f>
                    <m:r>
                      <a:rPr lang="en-US" dirty="0">
                        <a:latin typeface="Cambria Math" panose="02040503050406030204" pitchFamily="18" charset="0"/>
                      </a:rPr>
                      <m:t>=1.31 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atoms</m:t>
                    </m:r>
                    <m: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5F655FB-1648-C76E-448C-C94D23F4E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08" y="821537"/>
                <a:ext cx="7138802" cy="3343223"/>
              </a:xfrm>
              <a:prstGeom prst="rect">
                <a:avLst/>
              </a:prstGeom>
              <a:blipFill>
                <a:blip r:embed="rId2"/>
                <a:stretch>
                  <a:fillRect l="-533" t="-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4A0217BD-305B-9842-82AB-52A3A3E8A6D2}"/>
              </a:ext>
            </a:extLst>
          </p:cNvPr>
          <p:cNvSpPr/>
          <p:nvPr/>
        </p:nvSpPr>
        <p:spPr>
          <a:xfrm>
            <a:off x="-11018" y="5879939"/>
            <a:ext cx="9155017" cy="978061"/>
          </a:xfrm>
          <a:prstGeom prst="rect">
            <a:avLst/>
          </a:prstGeom>
          <a:solidFill>
            <a:srgbClr val="7F0000"/>
          </a:solidFill>
          <a:ln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837E1C-059B-D143-810B-D71FAC30E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25" y="5972538"/>
            <a:ext cx="3969564" cy="8600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7649D4-8336-D645-8B5D-7741C19D7B95}"/>
                  </a:ext>
                </a:extLst>
              </p:cNvPr>
              <p:cNvSpPr txBox="1"/>
              <p:nvPr/>
            </p:nvSpPr>
            <p:spPr>
              <a:xfrm>
                <a:off x="5614587" y="2399851"/>
                <a:ext cx="164933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with 10</a:t>
                </a:r>
                <a:r>
                  <a:rPr lang="en-US" baseline="30000"/>
                  <a:t>5 </a:t>
                </a:r>
                <a:r>
                  <a:rPr lang="en-US"/>
                  <a:t>atoms</a:t>
                </a:r>
              </a:p>
              <a:p>
                <a:endParaRPr lang="en-US" sz="800" i="1" dirty="0">
                  <a:latin typeface="Cambria Math" panose="02040503050406030204" pitchFamily="18" charset="0"/>
                  <a:ea typeface="Cambria Math" panose="02040503050406030204" pitchFamily="18" charset="0"/>
                  <a:sym typeface="Wingdings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~ </m:t>
                    </m:r>
                    <m:r>
                      <a:rPr lang="en-US" b="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40</m:t>
                    </m:r>
                  </m:oMath>
                </a14:m>
                <a:r>
                  <a:rPr lang="en-US"/>
                  <a:t> frames/s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7649D4-8336-D645-8B5D-7741C19D7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587" y="2399851"/>
                <a:ext cx="1649338" cy="769441"/>
              </a:xfrm>
              <a:prstGeom prst="rect">
                <a:avLst/>
              </a:prstGeom>
              <a:blipFill>
                <a:blip r:embed="rId4"/>
                <a:stretch>
                  <a:fillRect l="-3053" t="-4918" r="-1527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A96C66-4F46-DD4E-860D-2FA642781E36}"/>
                  </a:ext>
                </a:extLst>
              </p:cNvPr>
              <p:cNvSpPr txBox="1"/>
              <p:nvPr/>
            </p:nvSpPr>
            <p:spPr>
              <a:xfrm>
                <a:off x="5614587" y="3669098"/>
                <a:ext cx="16493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~ </m:t>
                    </m:r>
                    <m:r>
                      <a:rPr lang="en-US" b="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13</m:t>
                    </m:r>
                  </m:oMath>
                </a14:m>
                <a:r>
                  <a:rPr lang="en-US"/>
                  <a:t> frames/s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A96C66-4F46-DD4E-860D-2FA642781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587" y="3669098"/>
                <a:ext cx="1649338" cy="369332"/>
              </a:xfrm>
              <a:prstGeom prst="rect">
                <a:avLst/>
              </a:prstGeom>
              <a:blipFill>
                <a:blip r:embed="rId5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192B97A0-1140-2B49-B6C2-C0DAFBB075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3186" y="195276"/>
            <a:ext cx="3035715" cy="116543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F4480ADA-624A-DF4E-AFE5-D1D20961C3B5}"/>
              </a:ext>
            </a:extLst>
          </p:cNvPr>
          <p:cNvGrpSpPr/>
          <p:nvPr/>
        </p:nvGrpSpPr>
        <p:grpSpPr>
          <a:xfrm>
            <a:off x="663507" y="4263631"/>
            <a:ext cx="8480492" cy="1408902"/>
            <a:chOff x="663508" y="4229447"/>
            <a:chExt cx="8149412" cy="140890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744E581-0EFD-FD40-864F-1A11622DCDF4}"/>
                </a:ext>
              </a:extLst>
            </p:cNvPr>
            <p:cNvSpPr txBox="1"/>
            <p:nvPr/>
          </p:nvSpPr>
          <p:spPr>
            <a:xfrm>
              <a:off x="663509" y="4257078"/>
              <a:ext cx="6933702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dirty="0"/>
                <a:t>Assuming MD performance on GPU of </a:t>
              </a:r>
              <a:r>
                <a:rPr lang="en-US" b="1" dirty="0"/>
                <a:t>100 ns/day </a:t>
              </a:r>
              <a:r>
                <a:rPr lang="en-US" dirty="0"/>
                <a:t>with </a:t>
              </a:r>
              <a:r>
                <a:rPr lang="en-US" b="1" dirty="0"/>
                <a:t>2 fs </a:t>
              </a:r>
              <a:r>
                <a:rPr lang="en-US" dirty="0"/>
                <a:t>time steps</a:t>
              </a:r>
            </a:p>
            <a:p>
              <a:pPr>
                <a:spcAft>
                  <a:spcPts val="600"/>
                </a:spcAft>
              </a:pPr>
              <a:r>
                <a:rPr lang="en-US" dirty="0">
                  <a:sym typeface="Wingdings" pitchFamily="2" charset="2"/>
                </a:rPr>
                <a:t> 578 frames/s</a:t>
              </a:r>
              <a:endParaRPr lang="en-US" dirty="0"/>
            </a:p>
            <a:p>
              <a:pPr marL="285750" indent="-285750">
                <a:buFont typeface="Wingdings" pitchFamily="2" charset="2"/>
                <a:buChar char="è"/>
              </a:pPr>
              <a:r>
                <a:rPr lang="en-US" dirty="0"/>
                <a:t>adjust transmit frequency (time resolution in stream) </a:t>
              </a:r>
            </a:p>
            <a:p>
              <a:r>
                <a:rPr lang="en-US" dirty="0"/>
                <a:t>      or simulation will slow down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CEB563BB-53FC-A942-AFBD-139AE4E703FD}"/>
                </a:ext>
              </a:extLst>
            </p:cNvPr>
            <p:cNvSpPr/>
            <p:nvPr/>
          </p:nvSpPr>
          <p:spPr>
            <a:xfrm>
              <a:off x="663508" y="4229447"/>
              <a:ext cx="7993382" cy="1408902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B14126E-DC5B-E74A-9B50-43DCB1BF797F}"/>
                    </a:ext>
                  </a:extLst>
                </p:cNvPr>
                <p:cNvSpPr txBox="1"/>
                <p:nvPr/>
              </p:nvSpPr>
              <p:spPr>
                <a:xfrm>
                  <a:off x="6751177" y="4932447"/>
                  <a:ext cx="2061743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ea typeface="Cambria Math" panose="02040503050406030204" pitchFamily="18" charset="0"/>
                      <a:sym typeface="Wingdings" pitchFamily="2" charset="2"/>
                    </a:rPr>
                    <a:t>stream resolution</a:t>
                  </a:r>
                </a:p>
                <a:p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~ </m:t>
                      </m:r>
                      <m:r>
                        <a:rPr lang="en-US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30−100</m:t>
                      </m:r>
                    </m:oMath>
                  </a14:m>
                  <a:r>
                    <a:rPr lang="en-US" dirty="0"/>
                    <a:t> fs</a:t>
                  </a: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B14126E-DC5B-E74A-9B50-43DCB1BF79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1177" y="4932447"/>
                  <a:ext cx="2061743" cy="646331"/>
                </a:xfrm>
                <a:prstGeom prst="rect">
                  <a:avLst/>
                </a:prstGeom>
                <a:blipFill>
                  <a:blip r:embed="rId7"/>
                  <a:stretch>
                    <a:fillRect l="-2367" t="-5769" b="-1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C2AF93D-D13A-B446-96B1-F37FD034E959}"/>
                </a:ext>
              </a:extLst>
            </p:cNvPr>
            <p:cNvSpPr txBox="1"/>
            <p:nvPr/>
          </p:nvSpPr>
          <p:spPr>
            <a:xfrm>
              <a:off x="6422163" y="5105130"/>
              <a:ext cx="5341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ym typeface="Wingdings" pitchFamily="2" charset="2"/>
                </a:rPr>
                <a:t></a:t>
              </a:r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390832C-CE48-514F-BB78-AC2B49B4A3EE}"/>
              </a:ext>
            </a:extLst>
          </p:cNvPr>
          <p:cNvSpPr txBox="1"/>
          <p:nvPr/>
        </p:nvSpPr>
        <p:spPr>
          <a:xfrm>
            <a:off x="7058827" y="130124"/>
            <a:ext cx="19228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>
                <a:solidFill>
                  <a:schemeClr val="bg1"/>
                </a:solidFill>
              </a:rPr>
              <a:t>www.purestorage.com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F30019D-68C6-DB45-9037-8E0D838AC041}"/>
              </a:ext>
            </a:extLst>
          </p:cNvPr>
          <p:cNvSpPr/>
          <p:nvPr/>
        </p:nvSpPr>
        <p:spPr>
          <a:xfrm>
            <a:off x="5614587" y="2399851"/>
            <a:ext cx="1580972" cy="1765037"/>
          </a:xfrm>
          <a:prstGeom prst="roundRect">
            <a:avLst>
              <a:gd name="adj" fmla="val 1072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74FAF9-8BC9-56A2-1AE3-4B8DDA8B27B8}"/>
                  </a:ext>
                </a:extLst>
              </p:cNvPr>
              <p:cNvSpPr txBox="1"/>
              <p:nvPr/>
            </p:nvSpPr>
            <p:spPr>
              <a:xfrm>
                <a:off x="582483" y="1735333"/>
                <a:ext cx="8356418" cy="2339102"/>
              </a:xfrm>
              <a:prstGeom prst="rect">
                <a:avLst/>
              </a:prstGeom>
              <a:solidFill>
                <a:schemeClr val="bg1"/>
              </a:solidFill>
              <a:ln w="508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/>
                  <a:t>This example is for </a:t>
                </a:r>
              </a:p>
              <a:p>
                <a:pPr algn="ctr"/>
                <a:r>
                  <a:rPr lang="en-US" sz="3200" b="1" dirty="0"/>
                  <a:t>outdated consumer hardware</a:t>
                </a:r>
                <a:r>
                  <a:rPr lang="en-US" sz="3200" dirty="0"/>
                  <a:t>!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sz="3200" dirty="0"/>
                  <a:t>Data buses on HPC hardware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100 MB/s</a:t>
                </a:r>
              </a:p>
              <a:p>
                <a:pPr algn="ctr"/>
                <a:r>
                  <a:rPr lang="en-US" sz="3200" dirty="0">
                    <a:sym typeface="Wingdings" pitchFamily="2" charset="2"/>
                  </a:rPr>
                  <a:t> </a:t>
                </a:r>
                <a:r>
                  <a:rPr lang="en-US" sz="3200" dirty="0"/>
                  <a:t>stream resolution</a:t>
                </a:r>
                <a:r>
                  <a:rPr lang="en-US" sz="3200" dirty="0">
                    <a:sym typeface="Wingdings" pitchFamily="2" charset="2"/>
                  </a:rPr>
                  <a:t>:</a:t>
                </a:r>
                <a:r>
                  <a:rPr lang="en-US" sz="3200" b="1" dirty="0">
                    <a:sym typeface="Wingdings" pitchFamily="2" charset="2"/>
                  </a:rPr>
                  <a:t> &lt; 10 fs</a:t>
                </a:r>
                <a:endParaRPr lang="en-US" sz="3200" b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74FAF9-8BC9-56A2-1AE3-4B8DDA8B2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83" y="1735333"/>
                <a:ext cx="8356418" cy="2339102"/>
              </a:xfrm>
              <a:prstGeom prst="rect">
                <a:avLst/>
              </a:prstGeom>
              <a:blipFill>
                <a:blip r:embed="rId8"/>
                <a:stretch>
                  <a:fillRect t="-2116" b="-6878"/>
                </a:stretch>
              </a:blipFill>
              <a:ln w="508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397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24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8796E-AA01-F33B-E7C6-D27D68F0F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53191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IMD version 3 protocol</a:t>
            </a:r>
            <a:br>
              <a:rPr lang="en-US" dirty="0"/>
            </a:br>
            <a:r>
              <a:rPr lang="en-US" sz="2800" b="1" dirty="0"/>
              <a:t>(working title IMDv3)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7243C-F5C9-CCBF-90D5-2CEBBC372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0" y="1191764"/>
            <a:ext cx="811872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new message types</a:t>
            </a:r>
          </a:p>
          <a:p>
            <a:r>
              <a:rPr lang="en-US" sz="1800" dirty="0"/>
              <a:t>backwards compatible with IMDv2</a:t>
            </a:r>
          </a:p>
          <a:p>
            <a:r>
              <a:rPr lang="en-US" sz="1800" dirty="0"/>
              <a:t>straightforward to expand</a:t>
            </a:r>
          </a:p>
          <a:p>
            <a:r>
              <a:rPr lang="en-US" sz="1800" dirty="0"/>
              <a:t>implemented in: </a:t>
            </a:r>
            <a:r>
              <a:rPr lang="en-US" sz="1800" b="1" dirty="0"/>
              <a:t>G</a:t>
            </a:r>
            <a:r>
              <a:rPr lang="en-US" sz="1800" b="1" dirty="0">
                <a:sym typeface="Wingdings" pitchFamily="2" charset="2"/>
              </a:rPr>
              <a:t>ROMACS, NAMD3, LAMMPS </a:t>
            </a:r>
            <a:r>
              <a:rPr lang="en-US" sz="1800" dirty="0">
                <a:sym typeface="Wingdings" pitchFamily="2" charset="2"/>
              </a:rPr>
              <a:t>(forks of recent release)</a:t>
            </a:r>
            <a:endParaRPr lang="en-US" sz="1400" dirty="0">
              <a:sym typeface="Wingdings" pitchFamily="2" charset="2"/>
            </a:endParaRPr>
          </a:p>
          <a:p>
            <a:pPr marL="228600" lvl="1" indent="-217488"/>
            <a:r>
              <a:rPr lang="en-US" sz="1800" dirty="0" err="1">
                <a:sym typeface="Wingdings" pitchFamily="2" charset="2"/>
              </a:rPr>
              <a:t>IMDclient</a:t>
            </a:r>
            <a:r>
              <a:rPr lang="en-US" sz="1800" dirty="0">
                <a:sym typeface="Wingdings" pitchFamily="2" charset="2"/>
              </a:rPr>
              <a:t> &amp; </a:t>
            </a:r>
            <a:r>
              <a:rPr lang="en-US" sz="1800" dirty="0" err="1">
                <a:sym typeface="Wingdings" pitchFamily="2" charset="2"/>
              </a:rPr>
              <a:t>IMDreader</a:t>
            </a:r>
            <a:r>
              <a:rPr lang="en-US" sz="1800" dirty="0">
                <a:sym typeface="Wingdings" pitchFamily="2" charset="2"/>
              </a:rPr>
              <a:t> class for </a:t>
            </a:r>
            <a:r>
              <a:rPr lang="en-US" sz="1800" b="1" dirty="0" err="1">
                <a:sym typeface="Wingdings" pitchFamily="2" charset="2"/>
              </a:rPr>
              <a:t>MDAnalysis</a:t>
            </a:r>
            <a:endParaRPr lang="en-US" sz="1800" b="1" dirty="0">
              <a:sym typeface="Wingdings" pitchFamily="2" charset="2"/>
            </a:endParaRPr>
          </a:p>
          <a:p>
            <a:pPr marL="296863" lvl="1" indent="-285750"/>
            <a:endParaRPr lang="en-US" sz="1800" dirty="0">
              <a:sym typeface="Wingdings" pitchFamily="2" charset="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B92EF2-99C2-20C2-246E-38FEC5328383}"/>
              </a:ext>
            </a:extLst>
          </p:cNvPr>
          <p:cNvSpPr/>
          <p:nvPr/>
        </p:nvSpPr>
        <p:spPr>
          <a:xfrm>
            <a:off x="-11018" y="5879939"/>
            <a:ext cx="9155017" cy="978061"/>
          </a:xfrm>
          <a:prstGeom prst="rect">
            <a:avLst/>
          </a:prstGeom>
          <a:solidFill>
            <a:srgbClr val="7F0000"/>
          </a:solidFill>
          <a:ln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57F0F2-3A2C-4499-111C-22B925782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25" y="5972538"/>
            <a:ext cx="3969564" cy="8600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316FDB-7A36-E0FA-4045-CBF3A7145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5155" y="2972120"/>
            <a:ext cx="5437482" cy="286151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B30143B-3956-B84F-B162-99B0DDB3265E}"/>
              </a:ext>
            </a:extLst>
          </p:cNvPr>
          <p:cNvSpPr/>
          <p:nvPr/>
        </p:nvSpPr>
        <p:spPr>
          <a:xfrm>
            <a:off x="2739561" y="106891"/>
            <a:ext cx="370866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ym typeface="Wingdings" pitchFamily="2" charset="2"/>
                <a:hlinkClick r:id="rId5"/>
              </a:rPr>
              <a:t>https://imdclient.readthedocs.io/en/latest/protocol_v3.html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16958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907175D-637D-897C-CC92-4C32DBFD1170}"/>
              </a:ext>
            </a:extLst>
          </p:cNvPr>
          <p:cNvSpPr txBox="1"/>
          <p:nvPr/>
        </p:nvSpPr>
        <p:spPr>
          <a:xfrm>
            <a:off x="1471836" y="1330204"/>
            <a:ext cx="45868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IMD version 2 </a:t>
            </a:r>
            <a:r>
              <a:rPr lang="en-US" sz="2200" i="1" dirty="0"/>
              <a:t>vs.</a:t>
            </a:r>
            <a:r>
              <a:rPr lang="en-US" sz="2200" dirty="0"/>
              <a:t> version 3  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 </a:t>
            </a:r>
            <a:endParaRPr lang="en-US" sz="2200" dirty="0">
              <a:sym typeface="Wingdings" pitchFamily="2" charset="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02CF4C-2149-9F26-6042-2700CEDDFA48}"/>
              </a:ext>
            </a:extLst>
          </p:cNvPr>
          <p:cNvSpPr/>
          <p:nvPr/>
        </p:nvSpPr>
        <p:spPr>
          <a:xfrm>
            <a:off x="-11018" y="5879939"/>
            <a:ext cx="9155017" cy="978061"/>
          </a:xfrm>
          <a:prstGeom prst="rect">
            <a:avLst/>
          </a:prstGeom>
          <a:solidFill>
            <a:srgbClr val="7F0000"/>
          </a:solidFill>
          <a:ln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306515-6980-E63B-268C-FEDF7173F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25" y="5972538"/>
            <a:ext cx="3969564" cy="86007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917D97F-DD60-FFE0-AC18-B99049D8D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53191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IMD version 3 protocol</a:t>
            </a:r>
            <a:br>
              <a:rPr lang="en-US" dirty="0"/>
            </a:br>
            <a:r>
              <a:rPr lang="en-US" sz="2800" b="1" dirty="0"/>
              <a:t>(working title)</a:t>
            </a:r>
            <a:endParaRPr lang="en-US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8C0003C-246A-4FCA-CDB2-21011DA9B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20" y="4907011"/>
            <a:ext cx="4953000" cy="215900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4FC446F-D6E4-009B-E7BE-130F40EBFE92}"/>
              </a:ext>
            </a:extLst>
          </p:cNvPr>
          <p:cNvGraphicFramePr>
            <a:graphicFrameLocks noGrp="1"/>
          </p:cNvGraphicFramePr>
          <p:nvPr/>
        </p:nvGraphicFramePr>
        <p:xfrm>
          <a:off x="5378732" y="1354601"/>
          <a:ext cx="3463348" cy="4414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922">
                  <a:extLst>
                    <a:ext uri="{9D8B030D-6E8A-4147-A177-3AD203B41FA5}">
                      <a16:colId xmlns:a16="http://schemas.microsoft.com/office/drawing/2014/main" val="54010011"/>
                    </a:ext>
                  </a:extLst>
                </a:gridCol>
                <a:gridCol w="949483">
                  <a:extLst>
                    <a:ext uri="{9D8B030D-6E8A-4147-A177-3AD203B41FA5}">
                      <a16:colId xmlns:a16="http://schemas.microsoft.com/office/drawing/2014/main" val="78417369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3021163051"/>
                    </a:ext>
                  </a:extLst>
                </a:gridCol>
              </a:tblGrid>
              <a:tr h="391034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Message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IMD 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receiver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165160"/>
                  </a:ext>
                </a:extLst>
              </a:tr>
              <a:tr h="22582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handshake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server (MD)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005861"/>
                  </a:ext>
                </a:extLst>
              </a:tr>
              <a:tr h="22582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server (MD)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818991"/>
                  </a:ext>
                </a:extLst>
              </a:tr>
              <a:tr h="22582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disconnect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server (MD)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059681"/>
                  </a:ext>
                </a:extLst>
              </a:tr>
              <a:tr h="22582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server (MD)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737647"/>
                  </a:ext>
                </a:extLst>
              </a:tr>
              <a:tr h="22582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md-communication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server (MD)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899328"/>
                  </a:ext>
                </a:extLst>
              </a:tr>
              <a:tr h="22582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server (MD)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047145"/>
                  </a:ext>
                </a:extLst>
              </a:tr>
              <a:tr h="22582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transmission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server (MD)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598487"/>
                  </a:ext>
                </a:extLst>
              </a:tr>
              <a:tr h="22582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I/O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server (MD)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58795"/>
                  </a:ext>
                </a:extLst>
              </a:tr>
              <a:tr h="22582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FF0000"/>
                          </a:solidFill>
                        </a:rPr>
                        <a:t>coordinates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FF0000"/>
                          </a:solidFill>
                        </a:rPr>
                        <a:t>client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761907"/>
                  </a:ext>
                </a:extLst>
              </a:tr>
              <a:tr h="225826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sessioninfo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FF0000"/>
                          </a:solidFill>
                        </a:rPr>
                        <a:t>client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369955"/>
                  </a:ext>
                </a:extLst>
              </a:tr>
              <a:tr h="225826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/>
                        <a:t>resume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server (MD)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346011"/>
                  </a:ext>
                </a:extLst>
              </a:tr>
              <a:tr h="225826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/>
                        <a:t>no</a:t>
                      </a:r>
                      <a:r>
                        <a:rPr lang="en-US" sz="1050" dirty="0"/>
                        <a:t> </a:t>
                      </a:r>
                      <a:r>
                        <a:rPr lang="en-US" sz="1050" b="1" dirty="0"/>
                        <a:t>wait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server(MD)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58710"/>
                  </a:ext>
                </a:extLst>
              </a:tr>
              <a:tr h="225826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FF0000"/>
                          </a:solidFill>
                        </a:rPr>
                        <a:t>client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039913"/>
                  </a:ext>
                </a:extLst>
              </a:tr>
              <a:tr h="225826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velocities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FF0000"/>
                          </a:solidFill>
                        </a:rPr>
                        <a:t>client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646118"/>
                  </a:ext>
                </a:extLst>
              </a:tr>
              <a:tr h="225826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forces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FF0000"/>
                          </a:solidFill>
                        </a:rPr>
                        <a:t>client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595452"/>
                  </a:ext>
                </a:extLst>
              </a:tr>
              <a:tr h="225826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FF0000"/>
                          </a:solidFill>
                        </a:rPr>
                        <a:t>client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87910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B1E132C-8F05-C1FB-9F62-AF91007F3677}"/>
              </a:ext>
            </a:extLst>
          </p:cNvPr>
          <p:cNvSpPr txBox="1"/>
          <p:nvPr/>
        </p:nvSpPr>
        <p:spPr>
          <a:xfrm>
            <a:off x="230109" y="4534685"/>
            <a:ext cx="4517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Setup in </a:t>
            </a:r>
            <a:r>
              <a:rPr lang="en-US" dirty="0" err="1"/>
              <a:t>MDAnalysis</a:t>
            </a:r>
            <a:r>
              <a:rPr lang="en-US" dirty="0"/>
              <a:t> script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09438A8-3BC3-D9CA-5B02-C9EA3E195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920" y="2141458"/>
            <a:ext cx="3375387" cy="2241798"/>
          </a:xfrm>
          <a:prstGeom prst="rect">
            <a:avLst/>
          </a:prstGeom>
          <a:ln w="19050">
            <a:noFill/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E3B32C8-0645-58B7-B292-69984B1C4655}"/>
              </a:ext>
            </a:extLst>
          </p:cNvPr>
          <p:cNvSpPr txBox="1"/>
          <p:nvPr/>
        </p:nvSpPr>
        <p:spPr>
          <a:xfrm>
            <a:off x="230109" y="1764465"/>
            <a:ext cx="4586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Setup in MD input file (here: GROMACS)</a:t>
            </a: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F940AFC8-7BAF-F45E-A918-6B693BBBF79B}"/>
              </a:ext>
            </a:extLst>
          </p:cNvPr>
          <p:cNvSpPr/>
          <p:nvPr/>
        </p:nvSpPr>
        <p:spPr>
          <a:xfrm>
            <a:off x="3677307" y="2603956"/>
            <a:ext cx="371786" cy="1721271"/>
          </a:xfrm>
          <a:prstGeom prst="rightBrace">
            <a:avLst>
              <a:gd name="adj1" fmla="val 463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CB6EAA-3710-008D-4738-FFDFA6CB3AFB}"/>
              </a:ext>
            </a:extLst>
          </p:cNvPr>
          <p:cNvSpPr txBox="1"/>
          <p:nvPr/>
        </p:nvSpPr>
        <p:spPr>
          <a:xfrm rot="5400000">
            <a:off x="3551469" y="3141426"/>
            <a:ext cx="1678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new in</a:t>
            </a:r>
          </a:p>
          <a:p>
            <a:pPr algn="ctr"/>
            <a:r>
              <a:rPr lang="en-US" dirty="0"/>
              <a:t> IMD version 3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8D03CAF-B673-BE2A-3F13-43A0FD03C3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920" y="5240219"/>
            <a:ext cx="2567302" cy="49235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C4826E3-5849-2A47-8B59-ABA48C6F4270}"/>
              </a:ext>
            </a:extLst>
          </p:cNvPr>
          <p:cNvSpPr/>
          <p:nvPr/>
        </p:nvSpPr>
        <p:spPr>
          <a:xfrm>
            <a:off x="418743" y="5640223"/>
            <a:ext cx="2427005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D4ABAC-C77C-3544-9D0E-1FD924DEA932}"/>
              </a:ext>
            </a:extLst>
          </p:cNvPr>
          <p:cNvSpPr/>
          <p:nvPr/>
        </p:nvSpPr>
        <p:spPr>
          <a:xfrm>
            <a:off x="5653045" y="998999"/>
            <a:ext cx="349095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ym typeface="Wingdings" pitchFamily="2" charset="2"/>
                <a:hlinkClick r:id="rId6"/>
              </a:rPr>
              <a:t>https://imdclient.readthedocs.io/en/latest/protocol_v3.html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1501667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64402D-2350-AF8A-7EE5-734582E1F576}"/>
              </a:ext>
            </a:extLst>
          </p:cNvPr>
          <p:cNvSpPr txBox="1"/>
          <p:nvPr/>
        </p:nvSpPr>
        <p:spPr>
          <a:xfrm>
            <a:off x="500103" y="504363"/>
            <a:ext cx="7592764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MD simulations cover timescales over at least 9 orders of magnitude</a:t>
            </a:r>
          </a:p>
          <a:p>
            <a:pPr>
              <a:spcAft>
                <a:spcPts val="600"/>
              </a:spcAft>
            </a:pPr>
            <a:r>
              <a:rPr lang="en-US" b="1" dirty="0">
                <a:sym typeface="Wingdings" pitchFamily="2" charset="2"/>
              </a:rPr>
              <a:t> </a:t>
            </a:r>
            <a:r>
              <a:rPr lang="en-US" b="1" dirty="0"/>
              <a:t> femtosecond</a:t>
            </a:r>
            <a:r>
              <a:rPr lang="en-US" dirty="0"/>
              <a:t> 10</a:t>
            </a:r>
            <a:r>
              <a:rPr lang="en-US" baseline="30000" dirty="0"/>
              <a:t>-15</a:t>
            </a:r>
            <a:r>
              <a:rPr lang="en-US" dirty="0"/>
              <a:t> s to </a:t>
            </a:r>
            <a:r>
              <a:rPr lang="en-US" b="1" dirty="0"/>
              <a:t>microseconds </a:t>
            </a:r>
            <a:r>
              <a:rPr lang="en-US" dirty="0"/>
              <a:t>(10</a:t>
            </a:r>
            <a:r>
              <a:rPr lang="en-US" baseline="30000" dirty="0"/>
              <a:t>-6</a:t>
            </a:r>
            <a:r>
              <a:rPr lang="en-US" dirty="0"/>
              <a:t> 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0F0ECB-5B65-CF4C-AE98-C01F28E09D99}"/>
              </a:ext>
            </a:extLst>
          </p:cNvPr>
          <p:cNvSpPr/>
          <p:nvPr/>
        </p:nvSpPr>
        <p:spPr>
          <a:xfrm>
            <a:off x="-11018" y="5879939"/>
            <a:ext cx="9155017" cy="978061"/>
          </a:xfrm>
          <a:prstGeom prst="rect">
            <a:avLst/>
          </a:prstGeom>
          <a:solidFill>
            <a:srgbClr val="7F0000"/>
          </a:solidFill>
          <a:ln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631020-2AE8-BD4D-ABDA-10AC4E494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25" y="5972538"/>
            <a:ext cx="3969564" cy="8600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C2FE75-9D3D-A14C-9452-EF7DF275C956}"/>
                  </a:ext>
                </a:extLst>
              </p:cNvPr>
              <p:cNvSpPr txBox="1"/>
              <p:nvPr/>
            </p:nvSpPr>
            <p:spPr>
              <a:xfrm>
                <a:off x="282011" y="3794782"/>
                <a:ext cx="8768138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Can we store all this information?</a:t>
                </a:r>
              </a:p>
              <a:p>
                <a:endParaRPr lang="en-US" sz="600" dirty="0"/>
              </a:p>
              <a:p>
                <a:r>
                  <a:rPr lang="en-US" dirty="0"/>
                  <a:t>system size: </a:t>
                </a:r>
                <a:r>
                  <a:rPr lang="en-US" b="1" dirty="0"/>
                  <a:t>10</a:t>
                </a:r>
                <a:r>
                  <a:rPr lang="en-US" b="1" baseline="30000" dirty="0"/>
                  <a:t>5</a:t>
                </a:r>
                <a:r>
                  <a:rPr lang="en-US" b="1" dirty="0"/>
                  <a:t> atoms        </a:t>
                </a:r>
                <a:r>
                  <a:rPr lang="en-US" dirty="0"/>
                  <a:t>trajectory: 1 µs = </a:t>
                </a:r>
                <a:r>
                  <a:rPr lang="en-US" b="1" dirty="0"/>
                  <a:t>10</a:t>
                </a:r>
                <a:r>
                  <a:rPr lang="en-US" b="1" baseline="30000" dirty="0"/>
                  <a:t>6</a:t>
                </a:r>
                <a:r>
                  <a:rPr lang="en-US" b="1" dirty="0"/>
                  <a:t> ps      </a:t>
                </a:r>
                <a:r>
                  <a:rPr lang="en-US" dirty="0"/>
                  <a:t>time resolution: 10 fs = </a:t>
                </a:r>
                <a:r>
                  <a:rPr lang="en-US" b="1" dirty="0"/>
                  <a:t>0.01 ps</a:t>
                </a:r>
              </a:p>
              <a:p>
                <a:endParaRPr lang="en-US" sz="600" b="1" dirty="0"/>
              </a:p>
              <a:p>
                <a:r>
                  <a:rPr lang="en-US" dirty="0"/>
                  <a:t>storing only coordinates = 12 bytes/atom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dirty="0"/>
                  <a:t>10</a:t>
                </a:r>
                <a:r>
                  <a:rPr lang="en-US" baseline="30000" dirty="0"/>
                  <a:t>5</a:t>
                </a:r>
                <a:r>
                  <a:rPr lang="en-US" dirty="0"/>
                  <a:t> atoms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10</a:t>
                </a:r>
                <a:r>
                  <a:rPr lang="en-US" baseline="30000" dirty="0"/>
                  <a:t>6</a:t>
                </a:r>
                <a:r>
                  <a:rPr lang="en-US" dirty="0"/>
                  <a:t> ps / 0.01 ps = </a:t>
                </a:r>
                <a:r>
                  <a:rPr lang="en-US" b="1" dirty="0"/>
                  <a:t>109 Terabytes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C2FE75-9D3D-A14C-9452-EF7DF275C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11" y="3794782"/>
                <a:ext cx="8768138" cy="1107996"/>
              </a:xfrm>
              <a:prstGeom prst="rect">
                <a:avLst/>
              </a:prstGeom>
              <a:blipFill>
                <a:blip r:embed="rId4"/>
                <a:stretch>
                  <a:fillRect l="-579" t="-3448" b="-9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CB378709-EBD3-7A4B-8338-87E7E78DE6DC}"/>
              </a:ext>
            </a:extLst>
          </p:cNvPr>
          <p:cNvSpPr/>
          <p:nvPr/>
        </p:nvSpPr>
        <p:spPr>
          <a:xfrm>
            <a:off x="282011" y="5097684"/>
            <a:ext cx="87681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è"/>
            </a:pPr>
            <a:r>
              <a:rPr lang="en-US" b="1" dirty="0">
                <a:sym typeface="Wingdings" pitchFamily="2" charset="2"/>
              </a:rPr>
              <a:t>No, we can’t store this amount of data</a:t>
            </a:r>
          </a:p>
          <a:p>
            <a:r>
              <a:rPr lang="en-US" dirty="0">
                <a:sym typeface="Wingdings" pitchFamily="2" charset="2"/>
              </a:rPr>
              <a:t>“Solution”: 1000-fold lower time resolution: from 0.01 ps to 10 ps (99.9% of data ignored)</a:t>
            </a:r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79FBE54-71E5-254D-8C15-12560D4A0880}"/>
              </a:ext>
            </a:extLst>
          </p:cNvPr>
          <p:cNvSpPr/>
          <p:nvPr/>
        </p:nvSpPr>
        <p:spPr>
          <a:xfrm>
            <a:off x="282011" y="5045816"/>
            <a:ext cx="8622706" cy="68841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C9110F1-55E5-664E-D2DA-195A7EA42380}"/>
              </a:ext>
            </a:extLst>
          </p:cNvPr>
          <p:cNvGrpSpPr>
            <a:grpSpLocks noChangeAspect="1"/>
          </p:cNvGrpSpPr>
          <p:nvPr/>
        </p:nvGrpSpPr>
        <p:grpSpPr>
          <a:xfrm>
            <a:off x="500103" y="1297978"/>
            <a:ext cx="8210140" cy="2387133"/>
            <a:chOff x="466075" y="3591619"/>
            <a:chExt cx="8210140" cy="2387133"/>
          </a:xfrm>
        </p:grpSpPr>
        <p:pic>
          <p:nvPicPr>
            <p:cNvPr id="3" name="Picture 2" descr="figure_timescales.png">
              <a:extLst>
                <a:ext uri="{FF2B5EF4-FFF2-40B4-BE49-F238E27FC236}">
                  <a16:creationId xmlns:a16="http://schemas.microsoft.com/office/drawing/2014/main" id="{49E8386C-5BC5-5A1D-FBAB-B2A233A92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9777" y="3591619"/>
              <a:ext cx="7226438" cy="2387133"/>
            </a:xfrm>
            <a:prstGeom prst="rect">
              <a:avLst/>
            </a:prstGeom>
          </p:spPr>
        </p:pic>
        <p:pic>
          <p:nvPicPr>
            <p:cNvPr id="4" name="Picture 3" descr="A red ball and white ball on a spring&#10;&#10;Description automatically generated">
              <a:extLst>
                <a:ext uri="{FF2B5EF4-FFF2-40B4-BE49-F238E27FC236}">
                  <a16:creationId xmlns:a16="http://schemas.microsoft.com/office/drawing/2014/main" id="{17957E2D-83C0-FE33-CF07-81E435C763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00000">
              <a:off x="478946" y="4162922"/>
              <a:ext cx="1138067" cy="1163809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261B7D2-B80B-C60F-EF5A-28D4A53B88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5547" y="5664820"/>
              <a:ext cx="1025912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05ECE5E-8B97-7ABF-E9DE-E5DA1C60D0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0408" y="5664820"/>
              <a:ext cx="0" cy="7315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7420223-936E-FFFB-BE24-41D8AF902773}"/>
                </a:ext>
              </a:extLst>
            </p:cNvPr>
            <p:cNvSpPr txBox="1"/>
            <p:nvPr/>
          </p:nvSpPr>
          <p:spPr>
            <a:xfrm>
              <a:off x="694167" y="5737972"/>
              <a:ext cx="13686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10 – 100 fs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8890BC3-6617-423D-7469-0E7A819BECC9}"/>
                </a:ext>
              </a:extLst>
            </p:cNvPr>
            <p:cNvSpPr txBox="1"/>
            <p:nvPr/>
          </p:nvSpPr>
          <p:spPr>
            <a:xfrm>
              <a:off x="669817" y="3710639"/>
              <a:ext cx="711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bond vibrations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3E38E4C-7B3F-E071-308A-0A4D3EFC11A9}"/>
              </a:ext>
            </a:extLst>
          </p:cNvPr>
          <p:cNvGrpSpPr>
            <a:grpSpLocks noChangeAspect="1"/>
          </p:cNvGrpSpPr>
          <p:nvPr/>
        </p:nvGrpSpPr>
        <p:grpSpPr>
          <a:xfrm>
            <a:off x="519575" y="1193507"/>
            <a:ext cx="3389241" cy="2566562"/>
            <a:chOff x="433757" y="1529087"/>
            <a:chExt cx="3569733" cy="234256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A778099-593C-2C19-0258-497C3BF1134E}"/>
                </a:ext>
              </a:extLst>
            </p:cNvPr>
            <p:cNvSpPr/>
            <p:nvPr/>
          </p:nvSpPr>
          <p:spPr>
            <a:xfrm>
              <a:off x="433757" y="1529087"/>
              <a:ext cx="3569733" cy="2342569"/>
            </a:xfrm>
            <a:prstGeom prst="rect">
              <a:avLst/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1CB8E64-2304-8407-95DA-2E0192A42AEC}"/>
                </a:ext>
              </a:extLst>
            </p:cNvPr>
            <p:cNvCxnSpPr/>
            <p:nvPr/>
          </p:nvCxnSpPr>
          <p:spPr>
            <a:xfrm>
              <a:off x="433757" y="1529087"/>
              <a:ext cx="3569733" cy="2324678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D04D843-CF43-DC8D-071B-0DA1602452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757" y="1529087"/>
              <a:ext cx="3569733" cy="2324678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F0C1D55-201B-40F5-A9F5-BD11D9A1D6F2}"/>
              </a:ext>
            </a:extLst>
          </p:cNvPr>
          <p:cNvSpPr txBox="1"/>
          <p:nvPr/>
        </p:nvSpPr>
        <p:spPr>
          <a:xfrm>
            <a:off x="330331" y="66796"/>
            <a:ext cx="8681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3560"/>
                </a:solidFill>
                <a:cs typeface="Arial" charset="0"/>
              </a:rPr>
              <a:t>Time Paradox in MD Simulations</a:t>
            </a:r>
          </a:p>
        </p:txBody>
      </p:sp>
    </p:spTree>
    <p:extLst>
      <p:ext uri="{BB962C8B-B14F-4D97-AF65-F5344CB8AC3E}">
        <p14:creationId xmlns:p14="http://schemas.microsoft.com/office/powerpoint/2010/main" val="3462827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64402D-2350-AF8A-7EE5-734582E1F576}"/>
              </a:ext>
            </a:extLst>
          </p:cNvPr>
          <p:cNvSpPr txBox="1"/>
          <p:nvPr/>
        </p:nvSpPr>
        <p:spPr>
          <a:xfrm>
            <a:off x="1311238" y="935765"/>
            <a:ext cx="4348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/>
              <a:t>Example: </a:t>
            </a:r>
            <a:r>
              <a:rPr lang="en-US" sz="2000" b="1" dirty="0"/>
              <a:t>Solvent Dynamics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1E15DF6-D3F8-E94A-8F2F-729977262819}"/>
              </a:ext>
            </a:extLst>
          </p:cNvPr>
          <p:cNvSpPr txBox="1">
            <a:spLocks/>
          </p:cNvSpPr>
          <p:nvPr/>
        </p:nvSpPr>
        <p:spPr>
          <a:xfrm>
            <a:off x="-11019" y="1"/>
            <a:ext cx="9142527" cy="10559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What do we miss in such trajectories?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0F0ECB-5B65-CF4C-AE98-C01F28E09D99}"/>
              </a:ext>
            </a:extLst>
          </p:cNvPr>
          <p:cNvSpPr/>
          <p:nvPr/>
        </p:nvSpPr>
        <p:spPr>
          <a:xfrm>
            <a:off x="-11018" y="5879939"/>
            <a:ext cx="9155017" cy="978061"/>
          </a:xfrm>
          <a:prstGeom prst="rect">
            <a:avLst/>
          </a:prstGeom>
          <a:solidFill>
            <a:srgbClr val="7F0000"/>
          </a:solidFill>
          <a:ln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631020-2AE8-BD4D-ABDA-10AC4E494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25" y="5972538"/>
            <a:ext cx="3969564" cy="860072"/>
          </a:xfrm>
          <a:prstGeom prst="rect">
            <a:avLst/>
          </a:prstGeom>
        </p:spPr>
      </p:pic>
      <p:pic>
        <p:nvPicPr>
          <p:cNvPr id="14" name="Picture 13" descr="Diagram, map&#10;&#10;Description automatically generated">
            <a:extLst>
              <a:ext uri="{FF2B5EF4-FFF2-40B4-BE49-F238E27FC236}">
                <a16:creationId xmlns:a16="http://schemas.microsoft.com/office/drawing/2014/main" id="{4C085DFD-5ED5-D443-A08C-EE007DD5B8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12" y="1361265"/>
            <a:ext cx="5615205" cy="440472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EEA3C94F-8130-E14A-AE5B-E00708E049AB}"/>
              </a:ext>
            </a:extLst>
          </p:cNvPr>
          <p:cNvSpPr/>
          <p:nvPr/>
        </p:nvSpPr>
        <p:spPr>
          <a:xfrm>
            <a:off x="2347781" y="2788140"/>
            <a:ext cx="1343666" cy="1632642"/>
          </a:xfrm>
          <a:custGeom>
            <a:avLst/>
            <a:gdLst>
              <a:gd name="connsiteX0" fmla="*/ 753929 w 1343666"/>
              <a:gd name="connsiteY0" fmla="*/ 34303 h 1632642"/>
              <a:gd name="connsiteX1" fmla="*/ 617196 w 1343666"/>
              <a:gd name="connsiteY1" fmla="*/ 120 h 1632642"/>
              <a:gd name="connsiteX2" fmla="*/ 574467 w 1343666"/>
              <a:gd name="connsiteY2" fmla="*/ 25758 h 1632642"/>
              <a:gd name="connsiteX3" fmla="*/ 557376 w 1343666"/>
              <a:gd name="connsiteY3" fmla="*/ 94124 h 1632642"/>
              <a:gd name="connsiteX4" fmla="*/ 557376 w 1343666"/>
              <a:gd name="connsiteY4" fmla="*/ 171036 h 1632642"/>
              <a:gd name="connsiteX5" fmla="*/ 540284 w 1343666"/>
              <a:gd name="connsiteY5" fmla="*/ 222311 h 1632642"/>
              <a:gd name="connsiteX6" fmla="*/ 489009 w 1343666"/>
              <a:gd name="connsiteY6" fmla="*/ 230857 h 1632642"/>
              <a:gd name="connsiteX7" fmla="*/ 471918 w 1343666"/>
              <a:gd name="connsiteY7" fmla="*/ 273586 h 1632642"/>
              <a:gd name="connsiteX8" fmla="*/ 480464 w 1343666"/>
              <a:gd name="connsiteY8" fmla="*/ 307769 h 1632642"/>
              <a:gd name="connsiteX9" fmla="*/ 412097 w 1343666"/>
              <a:gd name="connsiteY9" fmla="*/ 350498 h 1632642"/>
              <a:gd name="connsiteX10" fmla="*/ 386460 w 1343666"/>
              <a:gd name="connsiteY10" fmla="*/ 401773 h 1632642"/>
              <a:gd name="connsiteX11" fmla="*/ 360823 w 1343666"/>
              <a:gd name="connsiteY11" fmla="*/ 487230 h 1632642"/>
              <a:gd name="connsiteX12" fmla="*/ 412097 w 1343666"/>
              <a:gd name="connsiteY12" fmla="*/ 547051 h 1632642"/>
              <a:gd name="connsiteX13" fmla="*/ 412097 w 1343666"/>
              <a:gd name="connsiteY13" fmla="*/ 572688 h 1632642"/>
              <a:gd name="connsiteX14" fmla="*/ 386460 w 1343666"/>
              <a:gd name="connsiteY14" fmla="*/ 615417 h 1632642"/>
              <a:gd name="connsiteX15" fmla="*/ 326639 w 1343666"/>
              <a:gd name="connsiteY15" fmla="*/ 632509 h 1632642"/>
              <a:gd name="connsiteX16" fmla="*/ 266819 w 1343666"/>
              <a:gd name="connsiteY16" fmla="*/ 649601 h 1632642"/>
              <a:gd name="connsiteX17" fmla="*/ 224090 w 1343666"/>
              <a:gd name="connsiteY17" fmla="*/ 623963 h 1632642"/>
              <a:gd name="connsiteX18" fmla="*/ 155723 w 1343666"/>
              <a:gd name="connsiteY18" fmla="*/ 632509 h 1632642"/>
              <a:gd name="connsiteX19" fmla="*/ 112994 w 1343666"/>
              <a:gd name="connsiteY19" fmla="*/ 692330 h 1632642"/>
              <a:gd name="connsiteX20" fmla="*/ 95903 w 1343666"/>
              <a:gd name="connsiteY20" fmla="*/ 735058 h 1632642"/>
              <a:gd name="connsiteX21" fmla="*/ 70265 w 1343666"/>
              <a:gd name="connsiteY21" fmla="*/ 769242 h 1632642"/>
              <a:gd name="connsiteX22" fmla="*/ 95903 w 1343666"/>
              <a:gd name="connsiteY22" fmla="*/ 846154 h 1632642"/>
              <a:gd name="connsiteX23" fmla="*/ 104449 w 1343666"/>
              <a:gd name="connsiteY23" fmla="*/ 871791 h 1632642"/>
              <a:gd name="connsiteX24" fmla="*/ 87357 w 1343666"/>
              <a:gd name="connsiteY24" fmla="*/ 914520 h 1632642"/>
              <a:gd name="connsiteX25" fmla="*/ 61720 w 1343666"/>
              <a:gd name="connsiteY25" fmla="*/ 905974 h 1632642"/>
              <a:gd name="connsiteX26" fmla="*/ 27537 w 1343666"/>
              <a:gd name="connsiteY26" fmla="*/ 905974 h 1632642"/>
              <a:gd name="connsiteX27" fmla="*/ 1899 w 1343666"/>
              <a:gd name="connsiteY27" fmla="*/ 914520 h 1632642"/>
              <a:gd name="connsiteX28" fmla="*/ 1899 w 1343666"/>
              <a:gd name="connsiteY28" fmla="*/ 991432 h 1632642"/>
              <a:gd name="connsiteX29" fmla="*/ 27537 w 1343666"/>
              <a:gd name="connsiteY29" fmla="*/ 1042707 h 1632642"/>
              <a:gd name="connsiteX30" fmla="*/ 27537 w 1343666"/>
              <a:gd name="connsiteY30" fmla="*/ 1085436 h 1632642"/>
              <a:gd name="connsiteX31" fmla="*/ 70265 w 1343666"/>
              <a:gd name="connsiteY31" fmla="*/ 1128165 h 1632642"/>
              <a:gd name="connsiteX32" fmla="*/ 112994 w 1343666"/>
              <a:gd name="connsiteY32" fmla="*/ 1093982 h 1632642"/>
              <a:gd name="connsiteX33" fmla="*/ 121540 w 1343666"/>
              <a:gd name="connsiteY33" fmla="*/ 1170894 h 1632642"/>
              <a:gd name="connsiteX34" fmla="*/ 147178 w 1343666"/>
              <a:gd name="connsiteY34" fmla="*/ 1230715 h 1632642"/>
              <a:gd name="connsiteX35" fmla="*/ 181361 w 1343666"/>
              <a:gd name="connsiteY35" fmla="*/ 1281989 h 1632642"/>
              <a:gd name="connsiteX36" fmla="*/ 224090 w 1343666"/>
              <a:gd name="connsiteY36" fmla="*/ 1290535 h 1632642"/>
              <a:gd name="connsiteX37" fmla="*/ 266819 w 1343666"/>
              <a:gd name="connsiteY37" fmla="*/ 1358901 h 1632642"/>
              <a:gd name="connsiteX38" fmla="*/ 352277 w 1343666"/>
              <a:gd name="connsiteY38" fmla="*/ 1435814 h 1632642"/>
              <a:gd name="connsiteX39" fmla="*/ 403551 w 1343666"/>
              <a:gd name="connsiteY39" fmla="*/ 1427268 h 1632642"/>
              <a:gd name="connsiteX40" fmla="*/ 446280 w 1343666"/>
              <a:gd name="connsiteY40" fmla="*/ 1435814 h 1632642"/>
              <a:gd name="connsiteX41" fmla="*/ 514647 w 1343666"/>
              <a:gd name="connsiteY41" fmla="*/ 1461451 h 1632642"/>
              <a:gd name="connsiteX42" fmla="*/ 557376 w 1343666"/>
              <a:gd name="connsiteY42" fmla="*/ 1529817 h 1632642"/>
              <a:gd name="connsiteX43" fmla="*/ 583013 w 1343666"/>
              <a:gd name="connsiteY43" fmla="*/ 1598184 h 1632642"/>
              <a:gd name="connsiteX44" fmla="*/ 617196 w 1343666"/>
              <a:gd name="connsiteY44" fmla="*/ 1623821 h 1632642"/>
              <a:gd name="connsiteX45" fmla="*/ 677017 w 1343666"/>
              <a:gd name="connsiteY45" fmla="*/ 1632367 h 1632642"/>
              <a:gd name="connsiteX46" fmla="*/ 736837 w 1343666"/>
              <a:gd name="connsiteY46" fmla="*/ 1615275 h 1632642"/>
              <a:gd name="connsiteX47" fmla="*/ 779566 w 1343666"/>
              <a:gd name="connsiteY47" fmla="*/ 1598184 h 1632642"/>
              <a:gd name="connsiteX48" fmla="*/ 753929 w 1343666"/>
              <a:gd name="connsiteY48" fmla="*/ 1564001 h 1632642"/>
              <a:gd name="connsiteX49" fmla="*/ 779566 w 1343666"/>
              <a:gd name="connsiteY49" fmla="*/ 1546909 h 1632642"/>
              <a:gd name="connsiteX50" fmla="*/ 839387 w 1343666"/>
              <a:gd name="connsiteY50" fmla="*/ 1512726 h 1632642"/>
              <a:gd name="connsiteX51" fmla="*/ 916299 w 1343666"/>
              <a:gd name="connsiteY51" fmla="*/ 1478543 h 1632642"/>
              <a:gd name="connsiteX52" fmla="*/ 890662 w 1343666"/>
              <a:gd name="connsiteY52" fmla="*/ 1461451 h 1632642"/>
              <a:gd name="connsiteX53" fmla="*/ 916299 w 1343666"/>
              <a:gd name="connsiteY53" fmla="*/ 1427268 h 1632642"/>
              <a:gd name="connsiteX54" fmla="*/ 967574 w 1343666"/>
              <a:gd name="connsiteY54" fmla="*/ 1427268 h 1632642"/>
              <a:gd name="connsiteX55" fmla="*/ 1010303 w 1343666"/>
              <a:gd name="connsiteY55" fmla="*/ 1418722 h 1632642"/>
              <a:gd name="connsiteX56" fmla="*/ 1061578 w 1343666"/>
              <a:gd name="connsiteY56" fmla="*/ 1469997 h 1632642"/>
              <a:gd name="connsiteX57" fmla="*/ 1112852 w 1343666"/>
              <a:gd name="connsiteY57" fmla="*/ 1487088 h 1632642"/>
              <a:gd name="connsiteX58" fmla="*/ 1155581 w 1343666"/>
              <a:gd name="connsiteY58" fmla="*/ 1487088 h 1632642"/>
              <a:gd name="connsiteX59" fmla="*/ 1189765 w 1343666"/>
              <a:gd name="connsiteY59" fmla="*/ 1469997 h 1632642"/>
              <a:gd name="connsiteX60" fmla="*/ 1181219 w 1343666"/>
              <a:gd name="connsiteY60" fmla="*/ 1444359 h 1632642"/>
              <a:gd name="connsiteX61" fmla="*/ 1198310 w 1343666"/>
              <a:gd name="connsiteY61" fmla="*/ 1410176 h 1632642"/>
              <a:gd name="connsiteX62" fmla="*/ 1223948 w 1343666"/>
              <a:gd name="connsiteY62" fmla="*/ 1384539 h 1632642"/>
              <a:gd name="connsiteX63" fmla="*/ 1249585 w 1343666"/>
              <a:gd name="connsiteY63" fmla="*/ 1350356 h 1632642"/>
              <a:gd name="connsiteX64" fmla="*/ 1266677 w 1343666"/>
              <a:gd name="connsiteY64" fmla="*/ 1341810 h 1632642"/>
              <a:gd name="connsiteX65" fmla="*/ 1309406 w 1343666"/>
              <a:gd name="connsiteY65" fmla="*/ 1299081 h 1632642"/>
              <a:gd name="connsiteX66" fmla="*/ 1343589 w 1343666"/>
              <a:gd name="connsiteY66" fmla="*/ 1281989 h 1632642"/>
              <a:gd name="connsiteX67" fmla="*/ 1317951 w 1343666"/>
              <a:gd name="connsiteY67" fmla="*/ 1230715 h 1632642"/>
              <a:gd name="connsiteX68" fmla="*/ 1292314 w 1343666"/>
              <a:gd name="connsiteY68" fmla="*/ 1162348 h 1632642"/>
              <a:gd name="connsiteX69" fmla="*/ 1309406 w 1343666"/>
              <a:gd name="connsiteY69" fmla="*/ 1136711 h 1632642"/>
              <a:gd name="connsiteX70" fmla="*/ 1335043 w 1343666"/>
              <a:gd name="connsiteY70" fmla="*/ 1111073 h 1632642"/>
              <a:gd name="connsiteX71" fmla="*/ 1317951 w 1343666"/>
              <a:gd name="connsiteY71" fmla="*/ 1085436 h 1632642"/>
              <a:gd name="connsiteX72" fmla="*/ 1266677 w 1343666"/>
              <a:gd name="connsiteY72" fmla="*/ 1085436 h 1632642"/>
              <a:gd name="connsiteX73" fmla="*/ 1275223 w 1343666"/>
              <a:gd name="connsiteY73" fmla="*/ 1042707 h 1632642"/>
              <a:gd name="connsiteX74" fmla="*/ 1232494 w 1343666"/>
              <a:gd name="connsiteY74" fmla="*/ 999978 h 1632642"/>
              <a:gd name="connsiteX75" fmla="*/ 1181219 w 1343666"/>
              <a:gd name="connsiteY75" fmla="*/ 982887 h 1632642"/>
              <a:gd name="connsiteX76" fmla="*/ 1112852 w 1343666"/>
              <a:gd name="connsiteY76" fmla="*/ 957249 h 1632642"/>
              <a:gd name="connsiteX77" fmla="*/ 1061578 w 1343666"/>
              <a:gd name="connsiteY77" fmla="*/ 999978 h 1632642"/>
              <a:gd name="connsiteX78" fmla="*/ 1018849 w 1343666"/>
              <a:gd name="connsiteY78" fmla="*/ 957249 h 1632642"/>
              <a:gd name="connsiteX79" fmla="*/ 924845 w 1343666"/>
              <a:gd name="connsiteY79" fmla="*/ 931612 h 1632642"/>
              <a:gd name="connsiteX80" fmla="*/ 882116 w 1343666"/>
              <a:gd name="connsiteY80" fmla="*/ 957249 h 1632642"/>
              <a:gd name="connsiteX81" fmla="*/ 830841 w 1343666"/>
              <a:gd name="connsiteY81" fmla="*/ 948703 h 1632642"/>
              <a:gd name="connsiteX82" fmla="*/ 779566 w 1343666"/>
              <a:gd name="connsiteY82" fmla="*/ 974341 h 1632642"/>
              <a:gd name="connsiteX83" fmla="*/ 702654 w 1343666"/>
              <a:gd name="connsiteY83" fmla="*/ 974341 h 1632642"/>
              <a:gd name="connsiteX84" fmla="*/ 685563 w 1343666"/>
              <a:gd name="connsiteY84" fmla="*/ 931612 h 1632642"/>
              <a:gd name="connsiteX85" fmla="*/ 668471 w 1343666"/>
              <a:gd name="connsiteY85" fmla="*/ 914520 h 1632642"/>
              <a:gd name="connsiteX86" fmla="*/ 651380 w 1343666"/>
              <a:gd name="connsiteY86" fmla="*/ 897429 h 1632642"/>
              <a:gd name="connsiteX87" fmla="*/ 634288 w 1343666"/>
              <a:gd name="connsiteY87" fmla="*/ 837608 h 1632642"/>
              <a:gd name="connsiteX88" fmla="*/ 642834 w 1343666"/>
              <a:gd name="connsiteY88" fmla="*/ 803425 h 1632642"/>
              <a:gd name="connsiteX89" fmla="*/ 625742 w 1343666"/>
              <a:gd name="connsiteY89" fmla="*/ 760696 h 1632642"/>
              <a:gd name="connsiteX90" fmla="*/ 659925 w 1343666"/>
              <a:gd name="connsiteY90" fmla="*/ 735058 h 1632642"/>
              <a:gd name="connsiteX91" fmla="*/ 728292 w 1343666"/>
              <a:gd name="connsiteY91" fmla="*/ 709421 h 1632642"/>
              <a:gd name="connsiteX92" fmla="*/ 668471 w 1343666"/>
              <a:gd name="connsiteY92" fmla="*/ 709421 h 1632642"/>
              <a:gd name="connsiteX93" fmla="*/ 753929 w 1343666"/>
              <a:gd name="connsiteY93" fmla="*/ 641055 h 1632642"/>
              <a:gd name="connsiteX94" fmla="*/ 847933 w 1343666"/>
              <a:gd name="connsiteY94" fmla="*/ 641055 h 1632642"/>
              <a:gd name="connsiteX95" fmla="*/ 873570 w 1343666"/>
              <a:gd name="connsiteY95" fmla="*/ 555597 h 1632642"/>
              <a:gd name="connsiteX96" fmla="*/ 890662 w 1343666"/>
              <a:gd name="connsiteY96" fmla="*/ 529959 h 1632642"/>
              <a:gd name="connsiteX97" fmla="*/ 899208 w 1343666"/>
              <a:gd name="connsiteY97" fmla="*/ 504322 h 1632642"/>
              <a:gd name="connsiteX98" fmla="*/ 907753 w 1343666"/>
              <a:gd name="connsiteY98" fmla="*/ 478685 h 1632642"/>
              <a:gd name="connsiteX99" fmla="*/ 959028 w 1343666"/>
              <a:gd name="connsiteY99" fmla="*/ 521414 h 1632642"/>
              <a:gd name="connsiteX100" fmla="*/ 967574 w 1343666"/>
              <a:gd name="connsiteY100" fmla="*/ 461593 h 1632642"/>
              <a:gd name="connsiteX101" fmla="*/ 1010303 w 1343666"/>
              <a:gd name="connsiteY101" fmla="*/ 461593 h 1632642"/>
              <a:gd name="connsiteX102" fmla="*/ 1027394 w 1343666"/>
              <a:gd name="connsiteY102" fmla="*/ 418864 h 1632642"/>
              <a:gd name="connsiteX103" fmla="*/ 1044486 w 1343666"/>
              <a:gd name="connsiteY103" fmla="*/ 401773 h 1632642"/>
              <a:gd name="connsiteX104" fmla="*/ 1061578 w 1343666"/>
              <a:gd name="connsiteY104" fmla="*/ 367589 h 1632642"/>
              <a:gd name="connsiteX105" fmla="*/ 1061578 w 1343666"/>
              <a:gd name="connsiteY105" fmla="*/ 324860 h 1632642"/>
              <a:gd name="connsiteX106" fmla="*/ 1035940 w 1343666"/>
              <a:gd name="connsiteY106" fmla="*/ 290677 h 1632642"/>
              <a:gd name="connsiteX107" fmla="*/ 1044486 w 1343666"/>
              <a:gd name="connsiteY107" fmla="*/ 213765 h 1632642"/>
              <a:gd name="connsiteX108" fmla="*/ 1035940 w 1343666"/>
              <a:gd name="connsiteY108" fmla="*/ 153944 h 1632642"/>
              <a:gd name="connsiteX109" fmla="*/ 1018849 w 1343666"/>
              <a:gd name="connsiteY109" fmla="*/ 119761 h 1632642"/>
              <a:gd name="connsiteX110" fmla="*/ 984665 w 1343666"/>
              <a:gd name="connsiteY110" fmla="*/ 162490 h 1632642"/>
              <a:gd name="connsiteX111" fmla="*/ 959028 w 1343666"/>
              <a:gd name="connsiteY111" fmla="*/ 162490 h 1632642"/>
              <a:gd name="connsiteX112" fmla="*/ 950482 w 1343666"/>
              <a:gd name="connsiteY112" fmla="*/ 119761 h 1632642"/>
              <a:gd name="connsiteX113" fmla="*/ 976120 w 1343666"/>
              <a:gd name="connsiteY113" fmla="*/ 85578 h 1632642"/>
              <a:gd name="connsiteX114" fmla="*/ 933391 w 1343666"/>
              <a:gd name="connsiteY114" fmla="*/ 59941 h 1632642"/>
              <a:gd name="connsiteX115" fmla="*/ 899208 w 1343666"/>
              <a:gd name="connsiteY115" fmla="*/ 51395 h 1632642"/>
              <a:gd name="connsiteX116" fmla="*/ 856479 w 1343666"/>
              <a:gd name="connsiteY116" fmla="*/ 59941 h 1632642"/>
              <a:gd name="connsiteX117" fmla="*/ 822295 w 1343666"/>
              <a:gd name="connsiteY117" fmla="*/ 8666 h 1632642"/>
              <a:gd name="connsiteX118" fmla="*/ 753929 w 1343666"/>
              <a:gd name="connsiteY118" fmla="*/ 34303 h 1632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1343666" h="1632642">
                <a:moveTo>
                  <a:pt x="753929" y="34303"/>
                </a:moveTo>
                <a:cubicBezTo>
                  <a:pt x="719746" y="32879"/>
                  <a:pt x="647106" y="1544"/>
                  <a:pt x="617196" y="120"/>
                </a:cubicBezTo>
                <a:cubicBezTo>
                  <a:pt x="587286" y="-1304"/>
                  <a:pt x="584437" y="10091"/>
                  <a:pt x="574467" y="25758"/>
                </a:cubicBezTo>
                <a:cubicBezTo>
                  <a:pt x="564497" y="41425"/>
                  <a:pt x="560224" y="69911"/>
                  <a:pt x="557376" y="94124"/>
                </a:cubicBezTo>
                <a:cubicBezTo>
                  <a:pt x="554528" y="118337"/>
                  <a:pt x="560225" y="149672"/>
                  <a:pt x="557376" y="171036"/>
                </a:cubicBezTo>
                <a:cubicBezTo>
                  <a:pt x="554527" y="192400"/>
                  <a:pt x="540284" y="222311"/>
                  <a:pt x="540284" y="222311"/>
                </a:cubicBezTo>
                <a:cubicBezTo>
                  <a:pt x="528890" y="232281"/>
                  <a:pt x="489009" y="230857"/>
                  <a:pt x="489009" y="230857"/>
                </a:cubicBezTo>
                <a:cubicBezTo>
                  <a:pt x="477615" y="239403"/>
                  <a:pt x="473342" y="260767"/>
                  <a:pt x="471918" y="273586"/>
                </a:cubicBezTo>
                <a:cubicBezTo>
                  <a:pt x="470494" y="286405"/>
                  <a:pt x="490434" y="294950"/>
                  <a:pt x="480464" y="307769"/>
                </a:cubicBezTo>
                <a:cubicBezTo>
                  <a:pt x="470494" y="320588"/>
                  <a:pt x="427764" y="334831"/>
                  <a:pt x="412097" y="350498"/>
                </a:cubicBezTo>
                <a:cubicBezTo>
                  <a:pt x="396430" y="366165"/>
                  <a:pt x="395006" y="378984"/>
                  <a:pt x="386460" y="401773"/>
                </a:cubicBezTo>
                <a:cubicBezTo>
                  <a:pt x="377914" y="424562"/>
                  <a:pt x="356550" y="463017"/>
                  <a:pt x="360823" y="487230"/>
                </a:cubicBezTo>
                <a:cubicBezTo>
                  <a:pt x="365096" y="511443"/>
                  <a:pt x="412097" y="547051"/>
                  <a:pt x="412097" y="547051"/>
                </a:cubicBezTo>
                <a:cubicBezTo>
                  <a:pt x="420643" y="561294"/>
                  <a:pt x="412097" y="572688"/>
                  <a:pt x="412097" y="572688"/>
                </a:cubicBezTo>
                <a:cubicBezTo>
                  <a:pt x="407824" y="584082"/>
                  <a:pt x="386460" y="615417"/>
                  <a:pt x="386460" y="615417"/>
                </a:cubicBezTo>
                <a:cubicBezTo>
                  <a:pt x="372217" y="625387"/>
                  <a:pt x="326639" y="632509"/>
                  <a:pt x="326639" y="632509"/>
                </a:cubicBezTo>
                <a:lnTo>
                  <a:pt x="266819" y="649601"/>
                </a:lnTo>
                <a:cubicBezTo>
                  <a:pt x="249727" y="648177"/>
                  <a:pt x="242606" y="626812"/>
                  <a:pt x="224090" y="623963"/>
                </a:cubicBezTo>
                <a:cubicBezTo>
                  <a:pt x="205574" y="621114"/>
                  <a:pt x="174239" y="621115"/>
                  <a:pt x="155723" y="632509"/>
                </a:cubicBezTo>
                <a:cubicBezTo>
                  <a:pt x="137207" y="643903"/>
                  <a:pt x="122964" y="675239"/>
                  <a:pt x="112994" y="692330"/>
                </a:cubicBezTo>
                <a:cubicBezTo>
                  <a:pt x="103024" y="709421"/>
                  <a:pt x="95903" y="735058"/>
                  <a:pt x="95903" y="735058"/>
                </a:cubicBezTo>
                <a:cubicBezTo>
                  <a:pt x="88782" y="747877"/>
                  <a:pt x="70265" y="750726"/>
                  <a:pt x="70265" y="769242"/>
                </a:cubicBezTo>
                <a:cubicBezTo>
                  <a:pt x="70265" y="787758"/>
                  <a:pt x="95903" y="846154"/>
                  <a:pt x="95903" y="846154"/>
                </a:cubicBezTo>
                <a:cubicBezTo>
                  <a:pt x="101600" y="863245"/>
                  <a:pt x="105873" y="860397"/>
                  <a:pt x="104449" y="871791"/>
                </a:cubicBezTo>
                <a:cubicBezTo>
                  <a:pt x="103025" y="883185"/>
                  <a:pt x="94478" y="908823"/>
                  <a:pt x="87357" y="914520"/>
                </a:cubicBezTo>
                <a:cubicBezTo>
                  <a:pt x="80236" y="920217"/>
                  <a:pt x="61720" y="905974"/>
                  <a:pt x="61720" y="905974"/>
                </a:cubicBezTo>
                <a:cubicBezTo>
                  <a:pt x="51750" y="904550"/>
                  <a:pt x="27537" y="905974"/>
                  <a:pt x="27537" y="905974"/>
                </a:cubicBezTo>
                <a:cubicBezTo>
                  <a:pt x="17567" y="907398"/>
                  <a:pt x="6172" y="900277"/>
                  <a:pt x="1899" y="914520"/>
                </a:cubicBezTo>
                <a:cubicBezTo>
                  <a:pt x="-2374" y="928763"/>
                  <a:pt x="1899" y="991432"/>
                  <a:pt x="1899" y="991432"/>
                </a:cubicBezTo>
                <a:cubicBezTo>
                  <a:pt x="6172" y="1012796"/>
                  <a:pt x="27537" y="1042707"/>
                  <a:pt x="27537" y="1042707"/>
                </a:cubicBezTo>
                <a:cubicBezTo>
                  <a:pt x="31810" y="1058374"/>
                  <a:pt x="27537" y="1085436"/>
                  <a:pt x="27537" y="1085436"/>
                </a:cubicBezTo>
                <a:cubicBezTo>
                  <a:pt x="34658" y="1099679"/>
                  <a:pt x="56022" y="1126741"/>
                  <a:pt x="70265" y="1128165"/>
                </a:cubicBezTo>
                <a:cubicBezTo>
                  <a:pt x="84508" y="1129589"/>
                  <a:pt x="104448" y="1086861"/>
                  <a:pt x="112994" y="1093982"/>
                </a:cubicBezTo>
                <a:cubicBezTo>
                  <a:pt x="121540" y="1101103"/>
                  <a:pt x="115843" y="1148105"/>
                  <a:pt x="121540" y="1170894"/>
                </a:cubicBezTo>
                <a:cubicBezTo>
                  <a:pt x="127237" y="1193683"/>
                  <a:pt x="137208" y="1212199"/>
                  <a:pt x="147178" y="1230715"/>
                </a:cubicBezTo>
                <a:cubicBezTo>
                  <a:pt x="157148" y="1249231"/>
                  <a:pt x="181361" y="1281989"/>
                  <a:pt x="181361" y="1281989"/>
                </a:cubicBezTo>
                <a:cubicBezTo>
                  <a:pt x="194180" y="1291959"/>
                  <a:pt x="209847" y="1277716"/>
                  <a:pt x="224090" y="1290535"/>
                </a:cubicBezTo>
                <a:cubicBezTo>
                  <a:pt x="238333" y="1303354"/>
                  <a:pt x="245455" y="1334688"/>
                  <a:pt x="266819" y="1358901"/>
                </a:cubicBezTo>
                <a:cubicBezTo>
                  <a:pt x="288183" y="1383114"/>
                  <a:pt x="329488" y="1424420"/>
                  <a:pt x="352277" y="1435814"/>
                </a:cubicBezTo>
                <a:cubicBezTo>
                  <a:pt x="375066" y="1447209"/>
                  <a:pt x="403551" y="1427268"/>
                  <a:pt x="403551" y="1427268"/>
                </a:cubicBezTo>
                <a:cubicBezTo>
                  <a:pt x="419218" y="1427268"/>
                  <a:pt x="427764" y="1430117"/>
                  <a:pt x="446280" y="1435814"/>
                </a:cubicBezTo>
                <a:cubicBezTo>
                  <a:pt x="464796" y="1441511"/>
                  <a:pt x="496131" y="1445784"/>
                  <a:pt x="514647" y="1461451"/>
                </a:cubicBezTo>
                <a:cubicBezTo>
                  <a:pt x="533163" y="1477118"/>
                  <a:pt x="545982" y="1507028"/>
                  <a:pt x="557376" y="1529817"/>
                </a:cubicBezTo>
                <a:cubicBezTo>
                  <a:pt x="568770" y="1552606"/>
                  <a:pt x="583013" y="1598184"/>
                  <a:pt x="583013" y="1598184"/>
                </a:cubicBezTo>
                <a:cubicBezTo>
                  <a:pt x="592983" y="1613851"/>
                  <a:pt x="601529" y="1618124"/>
                  <a:pt x="617196" y="1623821"/>
                </a:cubicBezTo>
                <a:cubicBezTo>
                  <a:pt x="632863" y="1629518"/>
                  <a:pt x="657077" y="1633791"/>
                  <a:pt x="677017" y="1632367"/>
                </a:cubicBezTo>
                <a:cubicBezTo>
                  <a:pt x="696957" y="1630943"/>
                  <a:pt x="736837" y="1615275"/>
                  <a:pt x="736837" y="1615275"/>
                </a:cubicBezTo>
                <a:cubicBezTo>
                  <a:pt x="753928" y="1609578"/>
                  <a:pt x="779566" y="1598184"/>
                  <a:pt x="779566" y="1598184"/>
                </a:cubicBezTo>
                <a:cubicBezTo>
                  <a:pt x="782415" y="1589638"/>
                  <a:pt x="753929" y="1572547"/>
                  <a:pt x="753929" y="1564001"/>
                </a:cubicBezTo>
                <a:cubicBezTo>
                  <a:pt x="753929" y="1555455"/>
                  <a:pt x="765323" y="1555455"/>
                  <a:pt x="779566" y="1546909"/>
                </a:cubicBezTo>
                <a:cubicBezTo>
                  <a:pt x="793809" y="1538363"/>
                  <a:pt x="816598" y="1524120"/>
                  <a:pt x="839387" y="1512726"/>
                </a:cubicBezTo>
                <a:cubicBezTo>
                  <a:pt x="862176" y="1501332"/>
                  <a:pt x="916299" y="1478543"/>
                  <a:pt x="916299" y="1478543"/>
                </a:cubicBezTo>
                <a:cubicBezTo>
                  <a:pt x="924845" y="1469997"/>
                  <a:pt x="890662" y="1461451"/>
                  <a:pt x="890662" y="1461451"/>
                </a:cubicBezTo>
                <a:cubicBezTo>
                  <a:pt x="890662" y="1452905"/>
                  <a:pt x="916299" y="1427268"/>
                  <a:pt x="916299" y="1427268"/>
                </a:cubicBezTo>
                <a:cubicBezTo>
                  <a:pt x="929118" y="1421571"/>
                  <a:pt x="951907" y="1428692"/>
                  <a:pt x="967574" y="1427268"/>
                </a:cubicBezTo>
                <a:cubicBezTo>
                  <a:pt x="983241" y="1425844"/>
                  <a:pt x="1010303" y="1418722"/>
                  <a:pt x="1010303" y="1418722"/>
                </a:cubicBezTo>
                <a:cubicBezTo>
                  <a:pt x="1025970" y="1425844"/>
                  <a:pt x="1061578" y="1469997"/>
                  <a:pt x="1061578" y="1469997"/>
                </a:cubicBezTo>
                <a:cubicBezTo>
                  <a:pt x="1078669" y="1481391"/>
                  <a:pt x="1112852" y="1487088"/>
                  <a:pt x="1112852" y="1487088"/>
                </a:cubicBezTo>
                <a:cubicBezTo>
                  <a:pt x="1128519" y="1489936"/>
                  <a:pt x="1155581" y="1487088"/>
                  <a:pt x="1155581" y="1487088"/>
                </a:cubicBezTo>
                <a:cubicBezTo>
                  <a:pt x="1168400" y="1484240"/>
                  <a:pt x="1189765" y="1469997"/>
                  <a:pt x="1189765" y="1469997"/>
                </a:cubicBezTo>
                <a:cubicBezTo>
                  <a:pt x="1194038" y="1462876"/>
                  <a:pt x="1179795" y="1454329"/>
                  <a:pt x="1181219" y="1444359"/>
                </a:cubicBezTo>
                <a:cubicBezTo>
                  <a:pt x="1182643" y="1434389"/>
                  <a:pt x="1191188" y="1420146"/>
                  <a:pt x="1198310" y="1410176"/>
                </a:cubicBezTo>
                <a:cubicBezTo>
                  <a:pt x="1205432" y="1400206"/>
                  <a:pt x="1223948" y="1384539"/>
                  <a:pt x="1223948" y="1384539"/>
                </a:cubicBezTo>
                <a:cubicBezTo>
                  <a:pt x="1232494" y="1374569"/>
                  <a:pt x="1249585" y="1350356"/>
                  <a:pt x="1249585" y="1350356"/>
                </a:cubicBezTo>
                <a:cubicBezTo>
                  <a:pt x="1256706" y="1343235"/>
                  <a:pt x="1256707" y="1350356"/>
                  <a:pt x="1266677" y="1341810"/>
                </a:cubicBezTo>
                <a:cubicBezTo>
                  <a:pt x="1276647" y="1333264"/>
                  <a:pt x="1309406" y="1299081"/>
                  <a:pt x="1309406" y="1299081"/>
                </a:cubicBezTo>
                <a:cubicBezTo>
                  <a:pt x="1322225" y="1289111"/>
                  <a:pt x="1343589" y="1281989"/>
                  <a:pt x="1343589" y="1281989"/>
                </a:cubicBezTo>
                <a:cubicBezTo>
                  <a:pt x="1345013" y="1270595"/>
                  <a:pt x="1326497" y="1250655"/>
                  <a:pt x="1317951" y="1230715"/>
                </a:cubicBezTo>
                <a:cubicBezTo>
                  <a:pt x="1309405" y="1210775"/>
                  <a:pt x="1292314" y="1162348"/>
                  <a:pt x="1292314" y="1162348"/>
                </a:cubicBezTo>
                <a:cubicBezTo>
                  <a:pt x="1290890" y="1146681"/>
                  <a:pt x="1309406" y="1136711"/>
                  <a:pt x="1309406" y="1136711"/>
                </a:cubicBezTo>
                <a:cubicBezTo>
                  <a:pt x="1316527" y="1128165"/>
                  <a:pt x="1335043" y="1111073"/>
                  <a:pt x="1335043" y="1111073"/>
                </a:cubicBezTo>
                <a:cubicBezTo>
                  <a:pt x="1336467" y="1102527"/>
                  <a:pt x="1317951" y="1085436"/>
                  <a:pt x="1317951" y="1085436"/>
                </a:cubicBezTo>
                <a:cubicBezTo>
                  <a:pt x="1306557" y="1081163"/>
                  <a:pt x="1266677" y="1085436"/>
                  <a:pt x="1266677" y="1085436"/>
                </a:cubicBezTo>
                <a:cubicBezTo>
                  <a:pt x="1259556" y="1078315"/>
                  <a:pt x="1275223" y="1042707"/>
                  <a:pt x="1275223" y="1042707"/>
                </a:cubicBezTo>
                <a:cubicBezTo>
                  <a:pt x="1269526" y="1028464"/>
                  <a:pt x="1232494" y="999978"/>
                  <a:pt x="1232494" y="999978"/>
                </a:cubicBezTo>
                <a:cubicBezTo>
                  <a:pt x="1216827" y="990008"/>
                  <a:pt x="1201159" y="990008"/>
                  <a:pt x="1181219" y="982887"/>
                </a:cubicBezTo>
                <a:cubicBezTo>
                  <a:pt x="1161279" y="975766"/>
                  <a:pt x="1112852" y="957249"/>
                  <a:pt x="1112852" y="957249"/>
                </a:cubicBezTo>
                <a:cubicBezTo>
                  <a:pt x="1092912" y="960097"/>
                  <a:pt x="1061578" y="999978"/>
                  <a:pt x="1061578" y="999978"/>
                </a:cubicBezTo>
                <a:cubicBezTo>
                  <a:pt x="1045911" y="999978"/>
                  <a:pt x="1041638" y="968643"/>
                  <a:pt x="1018849" y="957249"/>
                </a:cubicBezTo>
                <a:cubicBezTo>
                  <a:pt x="996060" y="945855"/>
                  <a:pt x="924845" y="931612"/>
                  <a:pt x="924845" y="931612"/>
                </a:cubicBezTo>
                <a:cubicBezTo>
                  <a:pt x="902056" y="931612"/>
                  <a:pt x="882116" y="957249"/>
                  <a:pt x="882116" y="957249"/>
                </a:cubicBezTo>
                <a:cubicBezTo>
                  <a:pt x="866449" y="960097"/>
                  <a:pt x="830841" y="948703"/>
                  <a:pt x="830841" y="948703"/>
                </a:cubicBezTo>
                <a:cubicBezTo>
                  <a:pt x="813749" y="951552"/>
                  <a:pt x="800930" y="970068"/>
                  <a:pt x="779566" y="974341"/>
                </a:cubicBezTo>
                <a:cubicBezTo>
                  <a:pt x="758202" y="978614"/>
                  <a:pt x="702654" y="974341"/>
                  <a:pt x="702654" y="974341"/>
                </a:cubicBezTo>
                <a:cubicBezTo>
                  <a:pt x="686987" y="967220"/>
                  <a:pt x="685563" y="931612"/>
                  <a:pt x="685563" y="931612"/>
                </a:cubicBezTo>
                <a:cubicBezTo>
                  <a:pt x="679866" y="921642"/>
                  <a:pt x="668471" y="914520"/>
                  <a:pt x="668471" y="914520"/>
                </a:cubicBezTo>
                <a:cubicBezTo>
                  <a:pt x="662774" y="908823"/>
                  <a:pt x="657077" y="910248"/>
                  <a:pt x="651380" y="897429"/>
                </a:cubicBezTo>
                <a:cubicBezTo>
                  <a:pt x="645683" y="884610"/>
                  <a:pt x="634288" y="837608"/>
                  <a:pt x="634288" y="837608"/>
                </a:cubicBezTo>
                <a:cubicBezTo>
                  <a:pt x="632864" y="821941"/>
                  <a:pt x="642834" y="803425"/>
                  <a:pt x="642834" y="803425"/>
                </a:cubicBezTo>
                <a:cubicBezTo>
                  <a:pt x="641410" y="790606"/>
                  <a:pt x="625742" y="760696"/>
                  <a:pt x="625742" y="760696"/>
                </a:cubicBezTo>
                <a:cubicBezTo>
                  <a:pt x="628590" y="749302"/>
                  <a:pt x="642834" y="743604"/>
                  <a:pt x="659925" y="735058"/>
                </a:cubicBezTo>
                <a:cubicBezTo>
                  <a:pt x="677016" y="726512"/>
                  <a:pt x="726868" y="713694"/>
                  <a:pt x="728292" y="709421"/>
                </a:cubicBezTo>
                <a:cubicBezTo>
                  <a:pt x="729716" y="705148"/>
                  <a:pt x="664198" y="720815"/>
                  <a:pt x="668471" y="709421"/>
                </a:cubicBezTo>
                <a:cubicBezTo>
                  <a:pt x="672744" y="698027"/>
                  <a:pt x="724019" y="652449"/>
                  <a:pt x="753929" y="641055"/>
                </a:cubicBezTo>
                <a:cubicBezTo>
                  <a:pt x="783839" y="629661"/>
                  <a:pt x="827993" y="655298"/>
                  <a:pt x="847933" y="641055"/>
                </a:cubicBezTo>
                <a:cubicBezTo>
                  <a:pt x="867873" y="626812"/>
                  <a:pt x="873570" y="555597"/>
                  <a:pt x="873570" y="555597"/>
                </a:cubicBezTo>
                <a:cubicBezTo>
                  <a:pt x="880691" y="537081"/>
                  <a:pt x="890662" y="529959"/>
                  <a:pt x="890662" y="529959"/>
                </a:cubicBezTo>
                <a:cubicBezTo>
                  <a:pt x="894935" y="521413"/>
                  <a:pt x="899208" y="504322"/>
                  <a:pt x="899208" y="504322"/>
                </a:cubicBezTo>
                <a:lnTo>
                  <a:pt x="907753" y="478685"/>
                </a:lnTo>
                <a:cubicBezTo>
                  <a:pt x="917723" y="481534"/>
                  <a:pt x="949058" y="524263"/>
                  <a:pt x="959028" y="521414"/>
                </a:cubicBezTo>
                <a:cubicBezTo>
                  <a:pt x="968998" y="518565"/>
                  <a:pt x="967574" y="461593"/>
                  <a:pt x="967574" y="461593"/>
                </a:cubicBezTo>
                <a:cubicBezTo>
                  <a:pt x="976120" y="451623"/>
                  <a:pt x="1010303" y="461593"/>
                  <a:pt x="1010303" y="461593"/>
                </a:cubicBezTo>
                <a:cubicBezTo>
                  <a:pt x="1020273" y="454471"/>
                  <a:pt x="1027394" y="418864"/>
                  <a:pt x="1027394" y="418864"/>
                </a:cubicBezTo>
                <a:cubicBezTo>
                  <a:pt x="1033091" y="408894"/>
                  <a:pt x="1044486" y="401773"/>
                  <a:pt x="1044486" y="401773"/>
                </a:cubicBezTo>
                <a:cubicBezTo>
                  <a:pt x="1050183" y="393227"/>
                  <a:pt x="1061578" y="367589"/>
                  <a:pt x="1061578" y="367589"/>
                </a:cubicBezTo>
                <a:cubicBezTo>
                  <a:pt x="1064427" y="354770"/>
                  <a:pt x="1061578" y="324860"/>
                  <a:pt x="1061578" y="324860"/>
                </a:cubicBezTo>
                <a:cubicBezTo>
                  <a:pt x="1057305" y="312041"/>
                  <a:pt x="1038789" y="309193"/>
                  <a:pt x="1035940" y="290677"/>
                </a:cubicBezTo>
                <a:cubicBezTo>
                  <a:pt x="1033091" y="272161"/>
                  <a:pt x="1044486" y="236554"/>
                  <a:pt x="1044486" y="213765"/>
                </a:cubicBezTo>
                <a:cubicBezTo>
                  <a:pt x="1044486" y="190976"/>
                  <a:pt x="1035940" y="153944"/>
                  <a:pt x="1035940" y="153944"/>
                </a:cubicBezTo>
                <a:cubicBezTo>
                  <a:pt x="1031667" y="138277"/>
                  <a:pt x="1018849" y="119761"/>
                  <a:pt x="1018849" y="119761"/>
                </a:cubicBezTo>
                <a:cubicBezTo>
                  <a:pt x="1010303" y="121185"/>
                  <a:pt x="984665" y="162490"/>
                  <a:pt x="984665" y="162490"/>
                </a:cubicBezTo>
                <a:cubicBezTo>
                  <a:pt x="974695" y="169612"/>
                  <a:pt x="959028" y="162490"/>
                  <a:pt x="959028" y="162490"/>
                </a:cubicBezTo>
                <a:cubicBezTo>
                  <a:pt x="953331" y="155369"/>
                  <a:pt x="950482" y="119761"/>
                  <a:pt x="950482" y="119761"/>
                </a:cubicBezTo>
                <a:cubicBezTo>
                  <a:pt x="953331" y="106943"/>
                  <a:pt x="976120" y="85578"/>
                  <a:pt x="976120" y="85578"/>
                </a:cubicBezTo>
                <a:cubicBezTo>
                  <a:pt x="973272" y="75608"/>
                  <a:pt x="933391" y="59941"/>
                  <a:pt x="933391" y="59941"/>
                </a:cubicBezTo>
                <a:cubicBezTo>
                  <a:pt x="920572" y="54244"/>
                  <a:pt x="899208" y="51395"/>
                  <a:pt x="899208" y="51395"/>
                </a:cubicBezTo>
                <a:cubicBezTo>
                  <a:pt x="886389" y="51395"/>
                  <a:pt x="856479" y="59941"/>
                  <a:pt x="856479" y="59941"/>
                </a:cubicBezTo>
                <a:cubicBezTo>
                  <a:pt x="843660" y="52820"/>
                  <a:pt x="842235" y="8666"/>
                  <a:pt x="822295" y="8666"/>
                </a:cubicBezTo>
                <a:cubicBezTo>
                  <a:pt x="802355" y="8666"/>
                  <a:pt x="788112" y="35727"/>
                  <a:pt x="753929" y="34303"/>
                </a:cubicBezTo>
                <a:close/>
              </a:path>
            </a:pathLst>
          </a:custGeom>
          <a:solidFill>
            <a:srgbClr val="00B050">
              <a:alpha val="50000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CBCDBF-40FC-E798-5EC5-DD1B2AB31B45}"/>
              </a:ext>
            </a:extLst>
          </p:cNvPr>
          <p:cNvSpPr txBox="1"/>
          <p:nvPr/>
        </p:nvSpPr>
        <p:spPr>
          <a:xfrm>
            <a:off x="5814725" y="1349998"/>
            <a:ext cx="331678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Picosecond Dynamics in Hydration Water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diffusion (mean squared displacements)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HB correlation functions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residence times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orientational relaxation</a:t>
            </a:r>
          </a:p>
          <a:p>
            <a:pPr marL="292100" indent="-2921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intermolecular vibrations (vibrational density of states)</a:t>
            </a:r>
          </a:p>
          <a:p>
            <a:pPr marL="577850" indent="-285750">
              <a:spcAft>
                <a:spcPts val="600"/>
              </a:spcAft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thermodynamic information via 2PT</a:t>
            </a:r>
          </a:p>
          <a:p>
            <a:pPr marL="9525"/>
            <a:r>
              <a:rPr lang="en-US" i="1" dirty="0">
                <a:sym typeface="Wingdings" pitchFamily="2" charset="2"/>
              </a:rPr>
              <a:t>our specialty:</a:t>
            </a:r>
          </a:p>
          <a:p>
            <a:pPr marL="9525">
              <a:spcAft>
                <a:spcPts val="600"/>
              </a:spcAft>
            </a:pPr>
            <a:r>
              <a:rPr lang="en-US" i="1" dirty="0">
                <a:sym typeface="Wingdings" pitchFamily="2" charset="2"/>
              </a:rPr>
              <a:t>analyzing water dynamics with 3D resolution</a:t>
            </a:r>
          </a:p>
        </p:txBody>
      </p:sp>
    </p:spTree>
    <p:extLst>
      <p:ext uri="{BB962C8B-B14F-4D97-AF65-F5344CB8AC3E}">
        <p14:creationId xmlns:p14="http://schemas.microsoft.com/office/powerpoint/2010/main" val="1583318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1860</TotalTime>
  <Words>1036</Words>
  <Application>Microsoft Macintosh PowerPoint</Application>
  <PresentationFormat>On-screen Show (4:3)</PresentationFormat>
  <Paragraphs>190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Courier New</vt:lpstr>
      <vt:lpstr>Wingdings</vt:lpstr>
      <vt:lpstr>Office Theme</vt:lpstr>
      <vt:lpstr>Streaming Trajectories with MDAnalysis</vt:lpstr>
      <vt:lpstr>Why Streaming of MD trajectories?</vt:lpstr>
      <vt:lpstr>Nomenclature</vt:lpstr>
      <vt:lpstr>Standing on the Shoulders of Giants: Interactive Molecular Dynamics (IMD)</vt:lpstr>
      <vt:lpstr>IMD (version 2)</vt:lpstr>
      <vt:lpstr>Why IMD version 3?</vt:lpstr>
      <vt:lpstr>Limits</vt:lpstr>
      <vt:lpstr>IMD version 3 protocol (working title IMDv3)</vt:lpstr>
      <vt:lpstr>IMD version 3 protocol (working title)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Matthias Heyden</dc:creator>
  <cp:lastModifiedBy>Matthias Heyden</cp:lastModifiedBy>
  <cp:revision>48</cp:revision>
  <cp:lastPrinted>2024-12-12T22:49:56Z</cp:lastPrinted>
  <dcterms:created xsi:type="dcterms:W3CDTF">2024-11-21T03:14:22Z</dcterms:created>
  <dcterms:modified xsi:type="dcterms:W3CDTF">2025-11-08T01:50:52Z</dcterms:modified>
</cp:coreProperties>
</file>